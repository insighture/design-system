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604a07a-2ada-0e4b-4326-6796184a2107}">
          <p14:sldIdLst>
            <p14:sldId id="256"/>
            <p14:sldId id="257"/>
          </p14:sldIdLst>
        </p14:section>
        <p14:section name="Body" id="{195e32bf-e23d-1039-a9ca-e04090ea694e}">
          <p14:sldIdLst>
            <p14:sldId id="258"/>
            <p14:sldId id="259"/>
            <p14:sldId id="260"/>
            <p14:sldId id="261"/>
            <p14:sldId id="262"/>
          </p14:sldIdLst>
        </p14:section>
        <p14:section name="Close" id="{3540c7aa-ce5e-8326-186c-5fe75bf135dd}">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181A"/>
                </a:solidFill>
                <a:latin typeface="+mn-lt"/>
              </a:defRPr>
            </a:pPr>
            <a:r>
              <a:rPr sz="1400" b="0" i="0" u="none" strike="noStrike">
                <a:solidFill>
                  <a:srgbClr val="15181A"/>
                </a:solidFill>
                <a:latin typeface="+mn-lt"/>
              </a:rPr>
              <a:t>Median lead time for changes (days)</a:t>
            </a:r>
          </a:p>
        </c:rich>
      </c:tx>
      <c:layout/>
      <c:overlay val="0"/>
    </c:title>
    <c:autoTitleDeleted val="0"/>
    <c:plotArea>
      <c:layout/>
      <c:barChart>
        <c:barDir val="col"/>
        <c:grouping val="clustered"/>
        <c:varyColors val="0"/>
        <c:ser>
          <c:idx val="0"/>
          <c:order val="0"/>
          <c:tx>
            <c:strRef>
              <c:f>Sheet1!$B$1</c:f>
              <c:strCache>
                <c:ptCount val="1"/>
                <c:pt idx="0">
                  <c:v>Lead time (days)</c:v>
                </c:pt>
              </c:strCache>
            </c:strRef>
          </c:tx>
          <c:spPr>
            <a:solidFill>
              <a:srgbClr val="CBD0D3"/>
            </a:solidFill>
            <a:effectLst/>
          </c:spPr>
          <c:invertIfNegative val="0"/>
          <c:dLbls>
            <c:numFmt formatCode="0.0" sourceLinked="0"/>
            <c:txPr>
              <a:bodyPr/>
              <a:lstStyle/>
              <a:p>
                <a:pPr>
                  <a:defRPr b="0" i="0" strike="noStrike" sz="1200" u="none">
                    <a:solidFill>
                      <a:srgbClr val="3E4449"/>
                    </a:solidFill>
                    <a:latin typeface="+mn-lt"/>
                  </a:defRPr>
                </a:pPr>
              </a:p>
            </c:txPr>
            <c:showLegendKey val="0"/>
            <c:showVal val="1"/>
            <c:showCatName val="0"/>
            <c:showSerName val="0"/>
            <c:showPercent val="0"/>
            <c:showBubbleSize val="0"/>
            <c:showLeaderLines val="0"/>
          </c:dLbls>
          <c:dPt>
            <c:idx val="0"/>
            <c:invertIfNegative val="0"/>
            <c:bubble3D val="0"/>
            <c:spPr>
              <a:solidFill>
                <a:srgbClr val="CBD0D3"/>
              </a:solidFill>
              <a:effectLst/>
            </c:spPr>
          </c:dPt>
          <c:dPt>
            <c:idx val="1"/>
            <c:invertIfNegative val="0"/>
            <c:bubble3D val="0"/>
            <c:spPr>
              <a:solidFill>
                <a:srgbClr val="CBD0D3"/>
              </a:solidFill>
              <a:effectLst/>
            </c:spPr>
          </c:dPt>
          <c:dPt>
            <c:idx val="2"/>
            <c:invertIfNegative val="0"/>
            <c:bubble3D val="0"/>
            <c:spPr>
              <a:solidFill>
                <a:srgbClr val="CBD0D3"/>
              </a:solidFill>
              <a:effectLst/>
            </c:spPr>
          </c:dPt>
          <c:dPt>
            <c:idx val="3"/>
            <c:invertIfNegative val="0"/>
            <c:bubble3D val="0"/>
            <c:spPr>
              <a:solidFill>
                <a:srgbClr val="CBD0D3"/>
              </a:solidFill>
              <a:effectLst/>
            </c:spPr>
          </c:dPt>
          <c:dPt>
            <c:idx val="4"/>
            <c:invertIfNegative val="0"/>
            <c:bubble3D val="0"/>
            <c:spPr>
              <a:solidFill>
                <a:srgbClr val="CBD0D3"/>
              </a:solidFill>
              <a:effectLst/>
            </c:spPr>
          </c:dPt>
          <c:dPt>
            <c:idx val="5"/>
            <c:invertIfNegative val="0"/>
            <c:bubble3D val="0"/>
            <c:spPr>
              <a:solidFill>
                <a:srgbClr val="EE4065"/>
              </a:solidFill>
              <a:effectLst/>
            </c:spPr>
          </c:dPt>
          <c:cat>
            <c:multiLvlStrRef>
              <c:f>Sheet1!$A$2:$A$7</c:f>
              <c:multiLvlStrCache>
                <c:ptCount val="6"/>
                <c:lvl>
                  <c:pt idx="0">
                    <c:v>Q1</c:v>
                  </c:pt>
                  <c:pt idx="1">
                    <c:v>Q2</c:v>
                  </c:pt>
                  <c:pt idx="2">
                    <c:v>Q3</c:v>
                  </c:pt>
                  <c:pt idx="3">
                    <c:v>Q4</c:v>
                  </c:pt>
                  <c:pt idx="4">
                    <c:v>Q1</c:v>
                  </c:pt>
                  <c:pt idx="5">
                    <c:v>Q2</c:v>
                  </c:pt>
                </c:lvl>
              </c:multiLvlStrCache>
            </c:multiLvlStrRef>
          </c:cat>
          <c:val>
            <c:numRef>
              <c:f>Sheet1!$B$2:$B$7</c:f>
              <c:numCache>
                <c:formatCode>General</c:formatCode>
                <c:ptCount val="6"/>
                <c:pt idx="0">
                  <c:v>14.2</c:v>
                </c:pt>
                <c:pt idx="1">
                  <c:v>13.8</c:v>
                </c:pt>
                <c:pt idx="2">
                  <c:v>11.1</c:v>
                </c:pt>
                <c:pt idx="3">
                  <c:v>9.4</c:v>
                </c:pt>
                <c:pt idx="4">
                  <c:v>8.2</c:v>
                </c:pt>
                <c:pt idx="5">
                  <c:v>7.5</c:v>
                </c:pt>
              </c:numCache>
            </c:numRef>
          </c:val>
        </c:ser>
        <c:dLbls>
          <c:numFmt formatCode="0.0" sourceLinked="0"/>
          <c:txPr>
            <a:bodyPr/>
            <a:lstStyle/>
            <a:p>
              <a:pPr>
                <a:defRPr b="0" i="0" strike="noStrike" sz="1200" u="none">
                  <a:solidFill>
                    <a:srgbClr val="3E444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B7278"/>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9525" cap="flat">
              <a:solidFill>
                <a:srgbClr val="E1E4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layout. Keep the title to two or three lines. Set one or two words in DM Serif Display italic for emphasis (select the words, change the font, turn bold off and italic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Only layout with four step cards. Indigo outlines echo the maturity-model steps on insighture.com.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layout. Use one per major part of the deck. The number is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grid. Each card may take its own alt colour for its icon tile and link; text uses the darker 700 step for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Number layout: one rose figure, a black label, and supporting detail. The dark teal panel holds secondary stats.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chart. Highlight the one bar that matters in rose and keep the rest neutral grey.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Content layout for comparisons. Lead each column with a bold line, then bullets.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layout for testimonials. Keep quotes under about 30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layout. One clear next step, plus contact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Quote-image-1.pn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Closing-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502920"/>
            <a:ext cx="3657600" cy="457200"/>
          </a:xfrm>
          <a:prstGeom prst="rect">
            <a:avLst/>
          </a:prstGeom>
          <a:noFill/>
          <a:ln/>
        </p:spPr>
        <p:txBody>
          <a:bodyPr wrap="square" lIns="0" tIns="0" rIns="0" bIns="0" rtlCol="0" anchor="ctr"/>
          <a:lstStyle/>
          <a:p>
            <a:pPr indent="0" marL="0">
              <a:buNone/>
            </a:pPr>
            <a:r>
              <a:rPr lang="en-US" sz="2200" dirty="0">
                <a:solidFill>
                  <a:schemeClr val="bg1"/>
                </a:solidFill>
              </a:rPr>
              <a:t>Insighture</a:t>
            </a:r>
            <a:endParaRPr lang="en-US" sz="2200" dirty="0"/>
          </a:p>
        </p:txBody>
      </p:sp>
      <p:sp>
        <p:nvSpPr>
          <p:cNvPr id="3" name="Text 1"/>
          <p:cNvSpPr/>
          <p:nvPr>
            <p:ph idx="101" type="title" hasCustomPrompt="1"/>
          </p:nvPr>
        </p:nvSpPr>
        <p:spPr>
          <a:xfrm>
            <a:off x="548640" y="1554480"/>
            <a:ext cx="8412480" cy="2651760"/>
          </a:xfrm>
          <a:prstGeom prst="rect">
            <a:avLst/>
          </a:prstGeom>
          <a:noFill/>
          <a:ln/>
        </p:spPr>
        <p:txBody>
          <a:bodyPr wrap="square" rtlCol="0"/>
          <a:lstStyle>
            <a:lvl1pPr algn="l" indent="0" marL="0">
              <a:lnSpc>
                <a:spcPct val="95000"/>
              </a:lnSpc>
              <a:buNone/>
              <a:defRPr lang="en-US" sz="5400" b="1" dirty="0">
                <a:solidFill>
                  <a:schemeClr val="bg1"/>
                </a:solidFill>
              </a:defRPr>
            </a:lvl1pPr>
          </a:lstStyle>
          <a:p>
            <a:pPr algn="l" indent="0" marL="0">
              <a:lnSpc>
                <a:spcPct val="95000"/>
              </a:lnSpc>
              <a:buNone/>
            </a:pPr>
            <a:r>
              <a:rPr lang="en-US" sz="5400" b="1" dirty="0">
                <a:solidFill>
                  <a:schemeClr val="bg1"/>
                </a:solidFill>
              </a:rPr>
              <a:t>Presentation title</a:t>
            </a:r>
            <a:endParaRPr lang="en-US" sz="5400" dirty="0"/>
          </a:p>
        </p:txBody>
      </p:sp>
      <p:sp>
        <p:nvSpPr>
          <p:cNvPr id="4" name="Text 1"/>
          <p:cNvSpPr/>
          <p:nvPr>
            <p:ph idx="102" type="body" hasCustomPrompt="1"/>
          </p:nvPr>
        </p:nvSpPr>
        <p:spPr>
          <a:xfrm>
            <a:off x="548640" y="4434840"/>
            <a:ext cx="7315200" cy="91440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r>
              <a:rPr lang="en-US" sz="2000" dirty="0">
                <a:solidFill>
                  <a:schemeClr val="bg1"/>
                </a:solidFill>
              </a:rPr>
              <a:t>Subtitle</a:t>
            </a:r>
            <a:endParaRPr lang="en-US" sz="2000" dirty="0"/>
          </a:p>
        </p:txBody>
      </p:sp>
      <p:sp>
        <p:nvSpPr>
          <p:cNvPr id="5" name="Text 1"/>
          <p:cNvSpPr/>
          <p:nvPr>
            <p:ph idx="103" type="body" hasCustomPrompt="1"/>
          </p:nvPr>
        </p:nvSpPr>
        <p:spPr>
          <a:xfrm>
            <a:off x="548640" y="5943600"/>
            <a:ext cx="6400800" cy="365760"/>
          </a:xfrm>
          <a:prstGeom prst="rect">
            <a:avLst/>
          </a:prstGeom>
          <a:noFill/>
          <a:ln/>
        </p:spPr>
        <p:txBody>
          <a:bodyPr wrap="square" rtlCol="0"/>
          <a:lstStyle>
            <a:lvl1pPr algn="l" indent="0" marL="0">
              <a:buNone/>
              <a:defRPr lang="en-US" sz="1200" b="1" spc="200" kern="0" dirty="0">
                <a:solidFill>
                  <a:schemeClr val="bg1"/>
                </a:solidFill>
              </a:defRPr>
            </a:lvl1pPr>
          </a:lstStyle>
          <a:p>
            <a:pPr algn="l" indent="0" marL="0">
              <a:buNone/>
            </a:pPr>
            <a:r>
              <a:rPr lang="en-US" sz="1200" b="1" spc="200" kern="0" dirty="0">
                <a:solidFill>
                  <a:schemeClr val="bg1"/>
                </a:solidFill>
              </a:rPr>
              <a:t>DATE · PRESENTER</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A9C0C5"/>
                </a:solidFill>
              </a:rPr>
              <a:t>Insighture</a:t>
            </a:r>
            <a:endParaRPr lang="en-US" sz="1000" dirty="0"/>
          </a:p>
        </p:txBody>
      </p:sp>
      <p:sp>
        <p:nvSpPr>
          <p:cNvPr id="3" name="Text 1"/>
          <p:cNvSpPr/>
          <p:nvPr>
            <p:ph idx="101" type="body" hasCustomPrompt="1"/>
          </p:nvPr>
        </p:nvSpPr>
        <p:spPr>
          <a:xfrm>
            <a:off x="548640" y="2148840"/>
            <a:ext cx="5486400" cy="411480"/>
          </a:xfrm>
          <a:prstGeom prst="rect">
            <a:avLst/>
          </a:prstGeom>
          <a:noFill/>
          <a:ln/>
        </p:spPr>
        <p:txBody>
          <a:bodyPr wrap="square" rtlCol="0"/>
          <a:lstStyle>
            <a:lvl1pPr algn="l" indent="0" marL="0">
              <a:buNone/>
              <a:defRPr lang="en-US" sz="1400" b="1" spc="300" kern="0" dirty="0">
                <a:solidFill>
                  <a:schemeClr val="accent2"/>
                </a:solidFill>
              </a:defRPr>
            </a:lvl1pPr>
          </a:lstStyle>
          <a:p>
            <a:pPr algn="l" indent="0" marL="0">
              <a:buNone/>
            </a:pPr>
            <a:r>
              <a:rPr lang="en-US" sz="1400" b="1" spc="300" kern="0" dirty="0">
                <a:solidFill>
                  <a:schemeClr val="accent2"/>
                </a:solidFill>
              </a:rPr>
              <a:t>01</a:t>
            </a:r>
            <a:endParaRPr lang="en-US" sz="1400" dirty="0"/>
          </a:p>
        </p:txBody>
      </p:sp>
      <p:sp>
        <p:nvSpPr>
          <p:cNvPr id="4" name="Text 1"/>
          <p:cNvSpPr/>
          <p:nvPr>
            <p:ph idx="102" type="title" hasCustomPrompt="1"/>
          </p:nvPr>
        </p:nvSpPr>
        <p:spPr>
          <a:xfrm>
            <a:off x="548640" y="2606040"/>
            <a:ext cx="868680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Section title</a:t>
            </a:r>
            <a:endParaRPr lang="en-US" sz="4400" dirty="0"/>
          </a:p>
        </p:txBody>
      </p:sp>
      <p:sp>
        <p:nvSpPr>
          <p:cNvPr id="5" name="Text 1"/>
          <p:cNvSpPr/>
          <p:nvPr>
            <p:ph idx="103" type="body" hasCustomPrompt="1"/>
          </p:nvPr>
        </p:nvSpPr>
        <p:spPr>
          <a:xfrm>
            <a:off x="548640" y="4160520"/>
            <a:ext cx="7772400" cy="914400"/>
          </a:xfrm>
          <a:prstGeom prst="rect">
            <a:avLst/>
          </a:prstGeom>
          <a:noFill/>
          <a:ln/>
        </p:spPr>
        <p:txBody>
          <a:bodyPr wrap="square" rtlCol="0"/>
          <a:lstStyle>
            <a:lvl1pPr algn="l" indent="0" marL="0">
              <a:buNone/>
              <a:defRPr lang="en-US" sz="1800" dirty="0">
                <a:solidFill>
                  <a:srgbClr val="A9C0C5"/>
                </a:solidFill>
              </a:defRPr>
            </a:lvl1pPr>
          </a:lstStyle>
          <a:p>
            <a:pPr algn="l" indent="0" marL="0">
              <a:buNone/>
            </a:pPr>
            <a:r>
              <a:rPr lang="en-US" sz="1800" dirty="0">
                <a:solidFill>
                  <a:srgbClr val="A9C0C5"/>
                </a:solidFill>
              </a:rPr>
              <a:t>What this section covers</a:t>
            </a:r>
            <a:endParaRPr lang="en-US" sz="18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C0C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6B7278"/>
                </a:solidFill>
              </a:rPr>
              <a:t>Insighture</a:t>
            </a:r>
            <a:endParaRPr lang="en-US" sz="1000" dirty="0"/>
          </a:p>
        </p:txBody>
      </p:sp>
      <p:sp>
        <p:nvSpPr>
          <p:cNvPr id="3" name="Text 1"/>
          <p:cNvSpPr/>
          <p:nvPr>
            <p:ph idx="101" type="body" hasCustomPrompt="1"/>
          </p:nvPr>
        </p:nvSpPr>
        <p:spPr>
          <a:xfrm>
            <a:off x="548640" y="457200"/>
            <a:ext cx="7315200" cy="320040"/>
          </a:xfrm>
          <a:prstGeom prst="rect">
            <a:avLst/>
          </a:prstGeom>
          <a:noFill/>
          <a:ln/>
        </p:spPr>
        <p:txBody>
          <a:bodyPr wrap="square" rtlCol="0"/>
          <a:lstStyle>
            <a:lvl1pPr algn="l" indent="0" marL="0">
              <a:buNone/>
              <a:defRPr lang="en-US" sz="1200" b="1" spc="300" kern="0" dirty="0">
                <a:solidFill>
                  <a:schemeClr val="accent5"/>
                </a:solidFill>
              </a:defRPr>
            </a:lvl1pPr>
          </a:lstStyle>
          <a:p>
            <a:pPr algn="l" indent="0" marL="0">
              <a:buNone/>
            </a:pPr>
            <a:r>
              <a:rPr lang="en-US" sz="1200" b="1" spc="300" kern="0" dirty="0">
                <a:solidFill>
                  <a:schemeClr val="accent5"/>
                </a:solidFill>
              </a:rPr>
              <a:t>EYEBROW</a:t>
            </a:r>
            <a:endParaRPr lang="en-US" sz="1200" dirty="0"/>
          </a:p>
        </p:txBody>
      </p:sp>
      <p:sp>
        <p:nvSpPr>
          <p:cNvPr id="4" name="Text 1"/>
          <p:cNvSpPr/>
          <p:nvPr>
            <p:ph idx="102" type="title" hasCustomPrompt="1"/>
          </p:nvPr>
        </p:nvSpPr>
        <p:spPr>
          <a:xfrm>
            <a:off x="548640" y="822960"/>
            <a:ext cx="11094415" cy="8686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r>
              <a:rPr lang="en-US" sz="3600" b="1" dirty="0">
                <a:solidFill>
                  <a:schemeClr val="tx1"/>
                </a:solidFill>
              </a:rPr>
              <a:t>Slide title</a:t>
            </a:r>
            <a:endParaRPr lang="en-US" sz="3600" dirty="0"/>
          </a:p>
        </p:txBody>
      </p:sp>
      <p:sp>
        <p:nvSpPr>
          <p:cNvPr id="5" name="Text 1"/>
          <p:cNvSpPr/>
          <p:nvPr>
            <p:ph idx="103" type="body" hasCustomPrompt="1"/>
          </p:nvPr>
        </p:nvSpPr>
        <p:spPr>
          <a:xfrm>
            <a:off x="548640" y="1965960"/>
            <a:ext cx="11094415" cy="4114800"/>
          </a:xfrm>
          <a:prstGeom prst="rect">
            <a:avLst/>
          </a:prstGeom>
          <a:noFill/>
          <a:ln/>
        </p:spPr>
        <p:txBody>
          <a:bodyPr wrap="square" rtlCol="0"/>
          <a:lstStyle>
            <a:lvl1pPr algn="l" indent="0" marL="0">
              <a:spcAft>
                <a:spcPts val="1000"/>
              </a:spcAft>
              <a:buNone/>
              <a:defRPr lang="en-US" sz="1800" dirty="0">
                <a:solidFill>
                  <a:srgbClr val="3E4449"/>
                </a:solidFill>
              </a:defRPr>
            </a:lvl1pPr>
          </a:lstStyle>
          <a:p>
            <a:pPr algn="l" indent="0" marL="0">
              <a:spcAft>
                <a:spcPts val="1000"/>
              </a:spcAft>
              <a:buNone/>
            </a:pPr>
            <a:r>
              <a:rPr lang="en-US" sz="1800" dirty="0">
                <a:solidFill>
                  <a:srgbClr val="3E4449"/>
                </a:solidFill>
              </a:rPr>
              <a:t>Body text</a:t>
            </a:r>
            <a:endParaRPr lang="en-US" sz="18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78"/>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6B7278"/>
                </a:solidFill>
              </a:rPr>
              <a:t>Insighture</a:t>
            </a:r>
            <a:endParaRPr lang="en-US" sz="1000" dirty="0"/>
          </a:p>
        </p:txBody>
      </p:sp>
      <p:sp>
        <p:nvSpPr>
          <p:cNvPr id="3" name="Text 1"/>
          <p:cNvSpPr/>
          <p:nvPr>
            <p:ph idx="101" type="body" hasCustomPrompt="1"/>
          </p:nvPr>
        </p:nvSpPr>
        <p:spPr>
          <a:xfrm>
            <a:off x="548640" y="457200"/>
            <a:ext cx="7315200" cy="320040"/>
          </a:xfrm>
          <a:prstGeom prst="rect">
            <a:avLst/>
          </a:prstGeom>
          <a:noFill/>
          <a:ln/>
        </p:spPr>
        <p:txBody>
          <a:bodyPr wrap="square" rtlCol="0"/>
          <a:lstStyle>
            <a:lvl1pPr algn="l" indent="0" marL="0">
              <a:buNone/>
              <a:defRPr lang="en-US" sz="1200" b="1" spc="300" kern="0" dirty="0">
                <a:solidFill>
                  <a:schemeClr val="accent5"/>
                </a:solidFill>
              </a:defRPr>
            </a:lvl1pPr>
          </a:lstStyle>
          <a:p>
            <a:pPr algn="l" indent="0" marL="0">
              <a:buNone/>
            </a:pPr>
            <a:r>
              <a:rPr lang="en-US" sz="1200" b="1" spc="300" kern="0" dirty="0">
                <a:solidFill>
                  <a:schemeClr val="accent5"/>
                </a:solidFill>
              </a:rPr>
              <a:t>EYEBROW</a:t>
            </a:r>
            <a:endParaRPr lang="en-US" sz="1200" dirty="0"/>
          </a:p>
        </p:txBody>
      </p:sp>
      <p:sp>
        <p:nvSpPr>
          <p:cNvPr id="4" name="Text 1"/>
          <p:cNvSpPr/>
          <p:nvPr>
            <p:ph idx="102" type="title" hasCustomPrompt="1"/>
          </p:nvPr>
        </p:nvSpPr>
        <p:spPr>
          <a:xfrm>
            <a:off x="548640" y="822960"/>
            <a:ext cx="11094415" cy="8686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r>
              <a:rPr lang="en-US" sz="3600" b="1" dirty="0">
                <a:solidFill>
                  <a:schemeClr val="tx1"/>
                </a:solidFill>
              </a:rPr>
              <a:t>Slide title</a:t>
            </a:r>
            <a:endParaRPr lang="en-US" sz="3600" dirty="0"/>
          </a:p>
        </p:txBody>
      </p:sp>
      <p:sp>
        <p:nvSpPr>
          <p:cNvPr id="5" name="Text 1"/>
          <p:cNvSpPr/>
          <p:nvPr>
            <p:ph idx="103" type="body" hasCustomPrompt="1"/>
          </p:nvPr>
        </p:nvSpPr>
        <p:spPr>
          <a:xfrm>
            <a:off x="914400" y="2286000"/>
            <a:ext cx="4617720" cy="3566160"/>
          </a:xfrm>
          <a:prstGeom prst="rect">
            <a:avLst/>
          </a:prstGeom>
          <a:noFill/>
          <a:ln/>
        </p:spPr>
        <p:txBody>
          <a:bodyPr wrap="square" rtlCol="0"/>
          <a:lstStyle>
            <a:lvl1pPr algn="l" indent="0" marL="0">
              <a:spcAft>
                <a:spcPts val="1000"/>
              </a:spcAft>
              <a:buNone/>
              <a:defRPr lang="en-US" sz="1800" dirty="0">
                <a:solidFill>
                  <a:srgbClr val="3E4449"/>
                </a:solidFill>
              </a:defRPr>
            </a:lvl1pPr>
          </a:lstStyle>
          <a:p>
            <a:pPr algn="l" indent="0" marL="0">
              <a:spcAft>
                <a:spcPts val="1000"/>
              </a:spcAft>
              <a:buNone/>
            </a:pPr>
            <a:r>
              <a:rPr lang="en-US" sz="1800" dirty="0">
                <a:solidFill>
                  <a:srgbClr val="3E4449"/>
                </a:solidFill>
              </a:rPr>
              <a:t>Left column</a:t>
            </a:r>
            <a:endParaRPr lang="en-US" sz="1800" dirty="0"/>
          </a:p>
        </p:txBody>
      </p:sp>
      <p:sp>
        <p:nvSpPr>
          <p:cNvPr id="6" name="Text 1"/>
          <p:cNvSpPr/>
          <p:nvPr>
            <p:ph idx="104" type="body" hasCustomPrompt="1"/>
          </p:nvPr>
        </p:nvSpPr>
        <p:spPr>
          <a:xfrm>
            <a:off x="6690208" y="2286000"/>
            <a:ext cx="4617720" cy="3566160"/>
          </a:xfrm>
          <a:prstGeom prst="rect">
            <a:avLst/>
          </a:prstGeom>
          <a:noFill/>
          <a:ln/>
        </p:spPr>
        <p:txBody>
          <a:bodyPr wrap="square" rtlCol="0"/>
          <a:lstStyle>
            <a:lvl1pPr algn="l" indent="0" marL="0">
              <a:spcAft>
                <a:spcPts val="1000"/>
              </a:spcAft>
              <a:buNone/>
              <a:defRPr lang="en-US" sz="1800" dirty="0">
                <a:solidFill>
                  <a:srgbClr val="3E4449"/>
                </a:solidFill>
              </a:defRPr>
            </a:lvl1pPr>
          </a:lstStyle>
          <a:p>
            <a:pPr algn="l" indent="0" marL="0">
              <a:spcAft>
                <a:spcPts val="1000"/>
              </a:spcAft>
              <a:buNone/>
            </a:pPr>
            <a:r>
              <a:rPr lang="en-US" sz="1800" dirty="0">
                <a:solidFill>
                  <a:srgbClr val="3E4449"/>
                </a:solidFill>
              </a:rPr>
              <a:t>Right column</a:t>
            </a:r>
            <a:endParaRPr lang="en-US" sz="18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78"/>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6B7278"/>
                </a:solidFill>
              </a:rPr>
              <a:t>Insighture</a:t>
            </a:r>
            <a:endParaRPr lang="en-US" sz="1000" dirty="0"/>
          </a:p>
        </p:txBody>
      </p:sp>
      <p:sp>
        <p:nvSpPr>
          <p:cNvPr id="3" name="Text 1"/>
          <p:cNvSpPr/>
          <p:nvPr>
            <p:ph idx="101" type="body" hasCustomPrompt="1"/>
          </p:nvPr>
        </p:nvSpPr>
        <p:spPr>
          <a:xfrm>
            <a:off x="548640" y="457200"/>
            <a:ext cx="7315200" cy="320040"/>
          </a:xfrm>
          <a:prstGeom prst="rect">
            <a:avLst/>
          </a:prstGeom>
          <a:noFill/>
          <a:ln/>
        </p:spPr>
        <p:txBody>
          <a:bodyPr wrap="square" rtlCol="0"/>
          <a:lstStyle>
            <a:lvl1pPr algn="l" indent="0" marL="0">
              <a:buNone/>
              <a:defRPr lang="en-US" sz="1200" b="1" spc="300" kern="0" dirty="0">
                <a:solidFill>
                  <a:schemeClr val="accent5"/>
                </a:solidFill>
              </a:defRPr>
            </a:lvl1pPr>
          </a:lstStyle>
          <a:p>
            <a:pPr algn="l" indent="0" marL="0">
              <a:buNone/>
            </a:pPr>
            <a:r>
              <a:rPr lang="en-US" sz="1200" b="1" spc="300" kern="0" dirty="0">
                <a:solidFill>
                  <a:schemeClr val="accent5"/>
                </a:solidFill>
              </a:rPr>
              <a:t>EYEBROW</a:t>
            </a:r>
            <a:endParaRPr lang="en-US" sz="1200" dirty="0"/>
          </a:p>
        </p:txBody>
      </p:sp>
      <p:sp>
        <p:nvSpPr>
          <p:cNvPr id="4" name="Text 1"/>
          <p:cNvSpPr/>
          <p:nvPr>
            <p:ph idx="102" type="title" hasCustomPrompt="1"/>
          </p:nvPr>
        </p:nvSpPr>
        <p:spPr>
          <a:xfrm>
            <a:off x="548640" y="822960"/>
            <a:ext cx="11094415" cy="8686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r>
              <a:rPr lang="en-US" sz="3600" b="1" dirty="0">
                <a:solidFill>
                  <a:schemeClr val="tx1"/>
                </a:solidFill>
              </a:rPr>
              <a:t>Slide title</a:t>
            </a:r>
            <a:endParaRPr lang="en-US" sz="3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78"/>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ig Number">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6B7278"/>
                </a:solidFill>
              </a:rPr>
              <a:t>Insighture</a:t>
            </a:r>
            <a:endParaRPr lang="en-US" sz="1000" dirty="0"/>
          </a:p>
        </p:txBody>
      </p:sp>
      <p:sp>
        <p:nvSpPr>
          <p:cNvPr id="3" name="Text 1"/>
          <p:cNvSpPr/>
          <p:nvPr>
            <p:ph idx="101" type="body" hasCustomPrompt="1"/>
          </p:nvPr>
        </p:nvSpPr>
        <p:spPr>
          <a:xfrm>
            <a:off x="548640" y="457200"/>
            <a:ext cx="7315200" cy="320040"/>
          </a:xfrm>
          <a:prstGeom prst="rect">
            <a:avLst/>
          </a:prstGeom>
          <a:noFill/>
          <a:ln/>
        </p:spPr>
        <p:txBody>
          <a:bodyPr wrap="square" rtlCol="0"/>
          <a:lstStyle>
            <a:lvl1pPr algn="l" indent="0" marL="0">
              <a:buNone/>
              <a:defRPr lang="en-US" sz="1200" b="1" spc="300" kern="0" dirty="0">
                <a:solidFill>
                  <a:schemeClr val="accent5"/>
                </a:solidFill>
              </a:defRPr>
            </a:lvl1pPr>
          </a:lstStyle>
          <a:p>
            <a:pPr algn="l" indent="0" marL="0">
              <a:buNone/>
            </a:pPr>
            <a:r>
              <a:rPr lang="en-US" sz="1200" b="1" spc="300" kern="0" dirty="0">
                <a:solidFill>
                  <a:schemeClr val="accent5"/>
                </a:solidFill>
              </a:rPr>
              <a:t>EYEBROW</a:t>
            </a:r>
            <a:endParaRPr lang="en-US" sz="1200" dirty="0"/>
          </a:p>
        </p:txBody>
      </p:sp>
      <p:sp>
        <p:nvSpPr>
          <p:cNvPr id="4" name="Text 1"/>
          <p:cNvSpPr/>
          <p:nvPr>
            <p:ph idx="102" type="body" hasCustomPrompt="1"/>
          </p:nvPr>
        </p:nvSpPr>
        <p:spPr>
          <a:xfrm>
            <a:off x="548640" y="1188720"/>
            <a:ext cx="6583680" cy="2377440"/>
          </a:xfrm>
          <a:prstGeom prst="rect">
            <a:avLst/>
          </a:prstGeom>
          <a:noFill/>
          <a:ln/>
        </p:spPr>
        <p:txBody>
          <a:bodyPr wrap="square" rtlCol="0"/>
          <a:lstStyle>
            <a:lvl1pPr algn="l" indent="0" marL="0">
              <a:buNone/>
              <a:defRPr lang="en-US" sz="13200" b="1" dirty="0">
                <a:solidFill>
                  <a:schemeClr val="accent1"/>
                </a:solidFill>
              </a:defRPr>
            </a:lvl1pPr>
          </a:lstStyle>
          <a:p>
            <a:pPr algn="l" indent="0" marL="0">
              <a:buNone/>
            </a:pPr>
            <a:r>
              <a:rPr lang="en-US" sz="13200" b="1" dirty="0">
                <a:solidFill>
                  <a:schemeClr val="accent1"/>
                </a:solidFill>
              </a:rPr>
              <a:t>00%</a:t>
            </a:r>
            <a:endParaRPr lang="en-US" sz="13200" dirty="0"/>
          </a:p>
        </p:txBody>
      </p:sp>
      <p:sp>
        <p:nvSpPr>
          <p:cNvPr id="5" name="Text 1"/>
          <p:cNvSpPr/>
          <p:nvPr>
            <p:ph idx="103" type="body" hasCustomPrompt="1"/>
          </p:nvPr>
        </p:nvSpPr>
        <p:spPr>
          <a:xfrm>
            <a:off x="548640" y="3703320"/>
            <a:ext cx="6035040" cy="100584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r>
              <a:rPr lang="en-US" sz="2600" b="1" dirty="0">
                <a:solidFill>
                  <a:schemeClr val="tx1"/>
                </a:solidFill>
              </a:rPr>
              <a:t>What the number means</a:t>
            </a:r>
            <a:endParaRPr lang="en-US" sz="2600" dirty="0"/>
          </a:p>
        </p:txBody>
      </p:sp>
      <p:sp>
        <p:nvSpPr>
          <p:cNvPr id="6" name="Text 1"/>
          <p:cNvSpPr/>
          <p:nvPr>
            <p:ph idx="104" type="body" hasCustomPrompt="1"/>
          </p:nvPr>
        </p:nvSpPr>
        <p:spPr>
          <a:xfrm>
            <a:off x="548640" y="4754880"/>
            <a:ext cx="6035040" cy="1188720"/>
          </a:xfrm>
          <a:prstGeom prst="rect">
            <a:avLst/>
          </a:prstGeom>
          <a:noFill/>
          <a:ln/>
        </p:spPr>
        <p:txBody>
          <a:bodyPr wrap="square" rtlCol="0"/>
          <a:lstStyle>
            <a:lvl1pPr algn="l" indent="0" marL="0">
              <a:buNone/>
              <a:defRPr lang="en-US" sz="1600" dirty="0">
                <a:solidFill>
                  <a:srgbClr val="3E4449"/>
                </a:solidFill>
              </a:defRPr>
            </a:lvl1pPr>
          </a:lstStyle>
          <a:p>
            <a:pPr algn="l" indent="0" marL="0">
              <a:buNone/>
            </a:pPr>
            <a:r>
              <a:rPr lang="en-US" sz="1600" dirty="0">
                <a:solidFill>
                  <a:srgbClr val="3E4449"/>
                </a:solidFill>
              </a:rPr>
              <a:t>Supporting detail or source</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78"/>
                </a:solidFil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Quot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A9C0C5"/>
                </a:solidFill>
              </a:rPr>
              <a:t>Insighture</a:t>
            </a:r>
            <a:endParaRPr lang="en-US" sz="1000" dirty="0"/>
          </a:p>
        </p:txBody>
      </p:sp>
      <p:sp>
        <p:nvSpPr>
          <p:cNvPr id="3" name="Text 1"/>
          <p:cNvSpPr/>
          <p:nvPr/>
        </p:nvSpPr>
        <p:spPr>
          <a:xfrm>
            <a:off x="502920" y="502920"/>
            <a:ext cx="1828800" cy="1737360"/>
          </a:xfrm>
          <a:prstGeom prst="rect">
            <a:avLst/>
          </a:prstGeom>
          <a:noFill/>
          <a:ln/>
        </p:spPr>
        <p:txBody>
          <a:bodyPr wrap="square" lIns="0" tIns="0" rIns="0" bIns="0" rtlCol="0" anchor="t"/>
          <a:lstStyle/>
          <a:p>
            <a:pPr indent="0" marL="0">
              <a:buNone/>
            </a:pPr>
            <a:r>
              <a:rPr lang="en-US" sz="16000" dirty="0">
                <a:solidFill>
                  <a:schemeClr val="accent1"/>
                </a:solidFill>
                <a:latin typeface="DM Serif Display" pitchFamily="34" charset="0"/>
                <a:ea typeface="DM Serif Display" pitchFamily="34" charset="-122"/>
                <a:cs typeface="DM Serif Display" pitchFamily="34" charset="-120"/>
              </a:rPr>
              <a:t>“</a:t>
            </a:r>
            <a:endParaRPr lang="en-US" sz="16000" dirty="0"/>
          </a:p>
        </p:txBody>
      </p:sp>
      <p:sp>
        <p:nvSpPr>
          <p:cNvPr id="4" name="Text 2"/>
          <p:cNvSpPr/>
          <p:nvPr>
            <p:ph idx="102" type="body" hasCustomPrompt="1"/>
          </p:nvPr>
        </p:nvSpPr>
        <p:spPr>
          <a:xfrm>
            <a:off x="548640" y="2011680"/>
            <a:ext cx="9692640" cy="2651760"/>
          </a:xfrm>
          <a:prstGeom prst="rect">
            <a:avLst/>
          </a:prstGeom>
          <a:noFill/>
          <a:ln/>
        </p:spPr>
        <p:txBody>
          <a:bodyPr wrap="square" rtlCol="0"/>
          <a:lstStyle>
            <a:lvl1pPr algn="l" indent="0" marL="0">
              <a:lnSpc>
                <a:spcPct val="110000"/>
              </a:lnSpc>
              <a:buNone/>
              <a:defRPr lang="en-US" sz="3000" i="1" dirty="0">
                <a:solidFill>
                  <a:schemeClr val="bg1"/>
                </a:solidFill>
              </a:defRPr>
            </a:lvl1pPr>
          </a:lstStyle>
          <a:p>
            <a:pPr algn="l" indent="0" marL="0">
              <a:lnSpc>
                <a:spcPct val="110000"/>
              </a:lnSpc>
              <a:buNone/>
            </a:pPr>
            <a:r>
              <a:rPr lang="en-US" sz="3000" i="1" dirty="0">
                <a:solidFill>
                  <a:schemeClr val="bg1"/>
                </a:solidFill>
              </a:rPr>
              <a:t>Quote</a:t>
            </a:r>
            <a:endParaRPr lang="en-US" sz="3000" dirty="0"/>
          </a:p>
        </p:txBody>
      </p:sp>
      <p:sp>
        <p:nvSpPr>
          <p:cNvPr id="5" name="Text 2"/>
          <p:cNvSpPr/>
          <p:nvPr>
            <p:ph idx="103" type="body" hasCustomPrompt="1"/>
          </p:nvPr>
        </p:nvSpPr>
        <p:spPr>
          <a:xfrm>
            <a:off x="548640" y="4892040"/>
            <a:ext cx="7315200" cy="365760"/>
          </a:xfrm>
          <a:prstGeom prst="rect">
            <a:avLst/>
          </a:prstGeom>
          <a:noFill/>
          <a:ln/>
        </p:spPr>
        <p:txBody>
          <a:bodyPr wrap="square" rtlCol="0"/>
          <a:lstStyle>
            <a:lvl1pPr algn="l" indent="0" marL="0">
              <a:buNone/>
              <a:defRPr lang="en-US" sz="1600" b="1" dirty="0">
                <a:solidFill>
                  <a:schemeClr val="bg1"/>
                </a:solidFill>
              </a:defRPr>
            </a:lvl1pPr>
          </a:lstStyle>
          <a:p>
            <a:pPr algn="l" indent="0" marL="0">
              <a:buNone/>
            </a:pPr>
            <a:r>
              <a:rPr lang="en-US" sz="1600" b="1" dirty="0">
                <a:solidFill>
                  <a:schemeClr val="bg1"/>
                </a:solidFill>
              </a:rPr>
              <a:t>Name</a:t>
            </a:r>
            <a:endParaRPr lang="en-US" sz="1600" dirty="0"/>
          </a:p>
        </p:txBody>
      </p:sp>
      <p:sp>
        <p:nvSpPr>
          <p:cNvPr id="6" name="Text 2"/>
          <p:cNvSpPr/>
          <p:nvPr>
            <p:ph idx="104" type="body" hasCustomPrompt="1"/>
          </p:nvPr>
        </p:nvSpPr>
        <p:spPr>
          <a:xfrm>
            <a:off x="548640" y="5257800"/>
            <a:ext cx="7315200" cy="365760"/>
          </a:xfrm>
          <a:prstGeom prst="rect">
            <a:avLst/>
          </a:prstGeom>
          <a:noFill/>
          <a:ln/>
        </p:spPr>
        <p:txBody>
          <a:bodyPr wrap="square" rtlCol="0"/>
          <a:lstStyle>
            <a:lvl1pPr algn="l" indent="0" marL="0">
              <a:buNone/>
              <a:defRPr lang="en-US" sz="1400" dirty="0">
                <a:solidFill>
                  <a:srgbClr val="A9C0C5"/>
                </a:solidFill>
              </a:defRPr>
            </a:lvl1pPr>
          </a:lstStyle>
          <a:p>
            <a:pPr algn="l" indent="0" marL="0">
              <a:buNone/>
            </a:pPr>
            <a:r>
              <a:rPr lang="en-US" sz="1400" dirty="0">
                <a:solidFill>
                  <a:srgbClr val="A9C0C5"/>
                </a:solidFill>
              </a:rPr>
              <a:t>Role, Company</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C0C5"/>
                </a:solidFill>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502920"/>
            <a:ext cx="3657600" cy="457200"/>
          </a:xfrm>
          <a:prstGeom prst="rect">
            <a:avLst/>
          </a:prstGeom>
          <a:noFill/>
          <a:ln/>
        </p:spPr>
        <p:txBody>
          <a:bodyPr wrap="square" lIns="0" tIns="0" rIns="0" bIns="0" rtlCol="0" anchor="ctr"/>
          <a:lstStyle/>
          <a:p>
            <a:pPr indent="0" marL="0">
              <a:buNone/>
            </a:pPr>
            <a:r>
              <a:rPr lang="en-US" sz="2200" dirty="0">
                <a:solidFill>
                  <a:schemeClr val="bg1"/>
                </a:solidFill>
              </a:rPr>
              <a:t>Insighture</a:t>
            </a:r>
            <a:endParaRPr lang="en-US" sz="2200" dirty="0"/>
          </a:p>
        </p:txBody>
      </p:sp>
      <p:sp>
        <p:nvSpPr>
          <p:cNvPr id="3" name="Text 1"/>
          <p:cNvSpPr/>
          <p:nvPr>
            <p:ph idx="101" type="title" hasCustomPrompt="1"/>
          </p:nvPr>
        </p:nvSpPr>
        <p:spPr>
          <a:xfrm>
            <a:off x="548640" y="2011680"/>
            <a:ext cx="8229600" cy="16459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r>
              <a:rPr lang="en-US" sz="6000" b="1" dirty="0">
                <a:solidFill>
                  <a:schemeClr val="bg1"/>
                </a:solidFill>
              </a:rPr>
              <a:t>Closing line</a:t>
            </a:r>
            <a:endParaRPr lang="en-US" sz="6000" dirty="0"/>
          </a:p>
        </p:txBody>
      </p:sp>
      <p:sp>
        <p:nvSpPr>
          <p:cNvPr id="4" name="Text 1"/>
          <p:cNvSpPr/>
          <p:nvPr>
            <p:ph idx="102" type="body" hasCustomPrompt="1"/>
          </p:nvPr>
        </p:nvSpPr>
        <p:spPr>
          <a:xfrm>
            <a:off x="548640" y="3886200"/>
            <a:ext cx="7315200" cy="1280160"/>
          </a:xfrm>
          <a:prstGeom prst="rect">
            <a:avLst/>
          </a:prstGeom>
          <a:noFill/>
          <a:ln/>
        </p:spPr>
        <p:txBody>
          <a:bodyPr wrap="square" rtlCol="0"/>
          <a:lstStyle>
            <a:lvl1pPr algn="l" indent="0" marL="0">
              <a:spcAft>
                <a:spcPts val="600"/>
              </a:spcAft>
              <a:buNone/>
              <a:defRPr lang="en-US" sz="1800" dirty="0">
                <a:solidFill>
                  <a:schemeClr val="bg1"/>
                </a:solidFill>
              </a:defRPr>
            </a:lvl1pPr>
          </a:lstStyle>
          <a:p>
            <a:pPr algn="l" indent="0" marL="0">
              <a:spcAft>
                <a:spcPts val="600"/>
              </a:spcAft>
              <a:buNone/>
            </a:pPr>
            <a:r>
              <a:rPr lang="en-US" sz="1800" dirty="0">
                <a:solidFill>
                  <a:schemeClr val="bg1"/>
                </a:solidFill>
              </a:rPr>
              <a:t>Contact details</a:t>
            </a: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C0C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6.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1554480"/>
            <a:ext cx="8412480" cy="2651760"/>
          </a:xfrm>
          <a:prstGeom prst="rect">
            <a:avLst/>
          </a:prstGeom>
          <a:noFill/>
          <a:ln/>
        </p:spPr>
        <p:txBody>
          <a:bodyPr wrap="square" lIns="0" tIns="0" rIns="0" bIns="0" rtlCol="0" anchor="b"/>
          <a:lstStyle/>
          <a:p>
            <a:pPr algn="l" indent="0" marL="0">
              <a:lnSpc>
                <a:spcPct val="95000"/>
              </a:lnSpc>
              <a:buNone/>
            </a:pPr>
            <a:r>
              <a:rPr lang="en-US" sz="5400" b="1" dirty="0">
                <a:solidFill>
                  <a:schemeClr val="bg1"/>
                </a:solidFill>
              </a:rPr>
              <a:t>We own the problem, not just </a:t>
            </a:r>
            <a:r>
              <a:rPr lang="en-US" sz="5400" b="0" i="1" dirty="0">
                <a:solidFill>
                  <a:schemeClr val="bg1"/>
                </a:solidFill>
                <a:latin typeface="DM Serif Display" pitchFamily="34" charset="0"/>
                <a:ea typeface="DM Serif Display" pitchFamily="34" charset="-122"/>
                <a:cs typeface="DM Serif Display" pitchFamily="34" charset="-120"/>
              </a:rPr>
              <a:t>the solution</a:t>
            </a:r>
            <a:endParaRPr lang="en-US" sz="5400" dirty="0"/>
          </a:p>
        </p:txBody>
      </p:sp>
      <p:sp>
        <p:nvSpPr>
          <p:cNvPr id="3" name="Text 1"/>
          <p:cNvSpPr/>
          <p:nvPr>
            <p:ph idx="102" type="body" hasCustomPrompt="1"/>
          </p:nvPr>
        </p:nvSpPr>
        <p:spPr>
          <a:xfrm>
            <a:off x="548640" y="4434840"/>
            <a:ext cx="7315200" cy="914400"/>
          </a:xfrm>
          <a:prstGeom prst="rect">
            <a:avLst/>
          </a:prstGeom>
          <a:noFill/>
          <a:ln/>
        </p:spPr>
        <p:txBody>
          <a:bodyPr wrap="square" lIns="0" tIns="0" rIns="0" bIns="0" rtlCol="0" anchor="t"/>
          <a:lstStyle/>
          <a:p>
            <a:pPr algn="l" indent="0" marL="0">
              <a:buNone/>
            </a:pPr>
            <a:r>
              <a:rPr lang="en-US" sz="2000" dirty="0">
                <a:solidFill>
                  <a:schemeClr val="bg1"/>
                </a:solidFill>
              </a:rPr>
              <a:t>Presentation template · Insighture design system</a:t>
            </a:r>
            <a:endParaRPr lang="en-US" sz="2000" dirty="0"/>
          </a:p>
        </p:txBody>
      </p:sp>
      <p:sp>
        <p:nvSpPr>
          <p:cNvPr id="4" name="Text 1"/>
          <p:cNvSpPr/>
          <p:nvPr>
            <p:ph idx="103" type="body" hasCustomPrompt="1"/>
          </p:nvPr>
        </p:nvSpPr>
        <p:spPr>
          <a:xfrm>
            <a:off x="548640" y="5943600"/>
            <a:ext cx="6400800" cy="365760"/>
          </a:xfrm>
          <a:prstGeom prst="rect">
            <a:avLst/>
          </a:prstGeom>
          <a:noFill/>
          <a:ln/>
        </p:spPr>
        <p:txBody>
          <a:bodyPr wrap="square" lIns="0" tIns="0" rIns="0" bIns="0" rtlCol="0"/>
          <a:lstStyle/>
          <a:p>
            <a:pPr algn="l" indent="0" marL="0">
              <a:buNone/>
            </a:pPr>
            <a:r>
              <a:rPr lang="en-US" sz="1200" b="1" spc="200" kern="0" dirty="0">
                <a:solidFill>
                  <a:schemeClr val="bg1"/>
                </a:solidFill>
              </a:rPr>
              <a:t>OCTOBER 2026 · PRESENTER NAME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7315200" cy="320040"/>
          </a:xfrm>
          <a:prstGeom prst="rect">
            <a:avLst/>
          </a:prstGeom>
          <a:noFill/>
          <a:ln/>
        </p:spPr>
        <p:txBody>
          <a:bodyPr wrap="square" lIns="0" tIns="0" rIns="0" bIns="0" rtlCol="0" anchor="b"/>
          <a:lstStyle/>
          <a:p>
            <a:pPr algn="l" indent="0" marL="0">
              <a:buNone/>
            </a:pPr>
            <a:r>
              <a:rPr lang="en-US" sz="1200" b="1" spc="300" kern="0" dirty="0">
                <a:solidFill>
                  <a:schemeClr val="accent5"/>
                </a:solidFill>
              </a:rPr>
              <a:t>AGENDA</a:t>
            </a:r>
            <a:endParaRPr lang="en-US" sz="1200" dirty="0"/>
          </a:p>
        </p:txBody>
      </p:sp>
      <p:sp>
        <p:nvSpPr>
          <p:cNvPr id="3" name="Text 1"/>
          <p:cNvSpPr/>
          <p:nvPr>
            <p:ph idx="102" type="title" hasCustomPrompt="1"/>
          </p:nvPr>
        </p:nvSpPr>
        <p:spPr>
          <a:xfrm>
            <a:off x="548640" y="822960"/>
            <a:ext cx="11094415" cy="868680"/>
          </a:xfrm>
          <a:prstGeom prst="rect">
            <a:avLst/>
          </a:prstGeom>
          <a:noFill/>
          <a:ln/>
        </p:spPr>
        <p:txBody>
          <a:bodyPr wrap="square" lIns="0" tIns="0" rIns="0" bIns="0" rtlCol="0" anchor="t"/>
          <a:lstStyle/>
          <a:p>
            <a:pPr algn="l" indent="0" marL="0">
              <a:buNone/>
            </a:pPr>
            <a:r>
              <a:rPr lang="en-US" sz="3600" b="1" dirty="0">
                <a:solidFill>
                  <a:schemeClr val="tx1"/>
                </a:solidFill>
              </a:rPr>
              <a:t>What we'll cover</a:t>
            </a:r>
            <a:endParaRPr lang="en-US" sz="3600" dirty="0"/>
          </a:p>
        </p:txBody>
      </p:sp>
      <p:sp>
        <p:nvSpPr>
          <p:cNvPr id="4" name="agenda-card-01"/>
          <p:cNvSpPr/>
          <p:nvPr/>
        </p:nvSpPr>
        <p:spPr>
          <a:xfrm>
            <a:off x="548640" y="2240280"/>
            <a:ext cx="2567864" cy="2834640"/>
          </a:xfrm>
          <a:prstGeom prst="roundRect">
            <a:avLst>
              <a:gd name="adj" fmla="val 6410"/>
            </a:avLst>
          </a:prstGeom>
          <a:solidFill>
            <a:schemeClr val="bg1"/>
          </a:solidFill>
          <a:ln w="12700">
            <a:solidFill>
              <a:srgbClr val="E1E4E6"/>
            </a:solidFill>
            <a:prstDash val="solid"/>
          </a:ln>
          <a:effectLst>
            <a:outerShdw sx="100000" sy="100000" kx="0" ky="0" algn="bl" rotWithShape="0" blurRad="127000" dist="25400" dir="5400000">
              <a:srgbClr val="15181A">
                <a:alpha val="7000"/>
              </a:srgbClr>
            </a:outerShdw>
          </a:effectLst>
        </p:spPr>
      </p:sp>
      <p:sp>
        <p:nvSpPr>
          <p:cNvPr id="5" name="agenda-step-01"/>
          <p:cNvSpPr/>
          <p:nvPr/>
        </p:nvSpPr>
        <p:spPr>
          <a:xfrm>
            <a:off x="868680" y="2560320"/>
            <a:ext cx="685800" cy="685800"/>
          </a:xfrm>
          <a:prstGeom prst="ellipse">
            <a:avLst/>
          </a:prstGeom>
          <a:solidFill>
            <a:schemeClr val="bg1"/>
          </a:solidFill>
          <a:ln w="19050">
            <a:solidFill>
              <a:schemeClr val="accent5"/>
            </a:solidFill>
            <a:prstDash val="solid"/>
          </a:ln>
        </p:spPr>
      </p:sp>
      <p:sp>
        <p:nvSpPr>
          <p:cNvPr id="6" name="Text 4"/>
          <p:cNvSpPr txBox="1"/>
          <p:nvPr/>
        </p:nvSpPr>
        <p:spPr>
          <a:xfrm>
            <a:off x="868680" y="2560320"/>
            <a:ext cx="685800" cy="685800"/>
          </a:xfrm>
          <a:prstGeom prst="rect">
            <a:avLst/>
          </a:prstGeom>
          <a:noFill/>
          <a:ln/>
        </p:spPr>
        <p:txBody>
          <a:bodyPr wrap="square" lIns="0" tIns="0" rIns="0" bIns="0" rtlCol="0" anchor="ctr"/>
          <a:lstStyle/>
          <a:p>
            <a:pPr algn="ctr" indent="0" marL="0">
              <a:buNone/>
            </a:pPr>
            <a:r>
              <a:rPr lang="en-US" sz="1500" b="1" dirty="0">
                <a:solidFill>
                  <a:schemeClr val="accent5"/>
                </a:solidFill>
              </a:rPr>
              <a:t>01</a:t>
            </a:r>
            <a:endParaRPr lang="en-US" sz="1500" dirty="0"/>
          </a:p>
        </p:txBody>
      </p:sp>
      <p:sp>
        <p:nvSpPr>
          <p:cNvPr id="7" name="Text 5"/>
          <p:cNvSpPr txBox="1"/>
          <p:nvPr/>
        </p:nvSpPr>
        <p:spPr>
          <a:xfrm>
            <a:off x="868680" y="3520440"/>
            <a:ext cx="1927784" cy="457200"/>
          </a:xfrm>
          <a:prstGeom prst="rect">
            <a:avLst/>
          </a:prstGeom>
          <a:noFill/>
          <a:ln/>
        </p:spPr>
        <p:txBody>
          <a:bodyPr wrap="square" lIns="0" tIns="0" rIns="0" bIns="0" rtlCol="0" anchor="ctr"/>
          <a:lstStyle/>
          <a:p>
            <a:pPr indent="0" marL="0">
              <a:buNone/>
            </a:pPr>
            <a:r>
              <a:rPr lang="en-US" sz="2000" b="1" dirty="0">
                <a:solidFill>
                  <a:schemeClr val="tx1"/>
                </a:solidFill>
              </a:rPr>
              <a:t>Context</a:t>
            </a:r>
            <a:endParaRPr lang="en-US" sz="2000" dirty="0"/>
          </a:p>
        </p:txBody>
      </p:sp>
      <p:sp>
        <p:nvSpPr>
          <p:cNvPr id="8" name="Text 6"/>
          <p:cNvSpPr txBox="1"/>
          <p:nvPr/>
        </p:nvSpPr>
        <p:spPr>
          <a:xfrm>
            <a:off x="868680" y="4023360"/>
            <a:ext cx="1927784" cy="914400"/>
          </a:xfrm>
          <a:prstGeom prst="rect">
            <a:avLst/>
          </a:prstGeom>
          <a:noFill/>
          <a:ln/>
        </p:spPr>
        <p:txBody>
          <a:bodyPr wrap="square" lIns="0" tIns="0" rIns="0" bIns="0" rtlCol="0" anchor="t"/>
          <a:lstStyle/>
          <a:p>
            <a:pPr indent="0" marL="0">
              <a:buNone/>
            </a:pPr>
            <a:r>
              <a:rPr lang="en-US" sz="1500" dirty="0">
                <a:solidFill>
                  <a:srgbClr val="3E4449"/>
                </a:solidFill>
              </a:rPr>
              <a:t>Where things stand and why it matters now.</a:t>
            </a:r>
            <a:endParaRPr lang="en-US" sz="1500" dirty="0"/>
          </a:p>
        </p:txBody>
      </p:sp>
      <p:sp>
        <p:nvSpPr>
          <p:cNvPr id="9" name="agenda-card-02"/>
          <p:cNvSpPr/>
          <p:nvPr/>
        </p:nvSpPr>
        <p:spPr>
          <a:xfrm>
            <a:off x="3390824" y="2240280"/>
            <a:ext cx="2567864" cy="2834640"/>
          </a:xfrm>
          <a:prstGeom prst="roundRect">
            <a:avLst>
              <a:gd name="adj" fmla="val 6410"/>
            </a:avLst>
          </a:prstGeom>
          <a:solidFill>
            <a:schemeClr val="bg1"/>
          </a:solidFill>
          <a:ln w="12700">
            <a:solidFill>
              <a:srgbClr val="E1E4E6"/>
            </a:solidFill>
            <a:prstDash val="solid"/>
          </a:ln>
          <a:effectLst>
            <a:outerShdw sx="100000" sy="100000" kx="0" ky="0" algn="bl" rotWithShape="0" blurRad="127000" dist="25400" dir="5400000">
              <a:srgbClr val="15181A">
                <a:alpha val="7000"/>
              </a:srgbClr>
            </a:outerShdw>
          </a:effectLst>
        </p:spPr>
      </p:sp>
      <p:sp>
        <p:nvSpPr>
          <p:cNvPr id="10" name="agenda-step-02"/>
          <p:cNvSpPr/>
          <p:nvPr/>
        </p:nvSpPr>
        <p:spPr>
          <a:xfrm>
            <a:off x="3710864" y="2560320"/>
            <a:ext cx="685800" cy="685800"/>
          </a:xfrm>
          <a:prstGeom prst="ellipse">
            <a:avLst/>
          </a:prstGeom>
          <a:solidFill>
            <a:schemeClr val="bg1"/>
          </a:solidFill>
          <a:ln w="19050">
            <a:solidFill>
              <a:schemeClr val="accent5"/>
            </a:solidFill>
            <a:prstDash val="solid"/>
          </a:ln>
        </p:spPr>
      </p:sp>
      <p:sp>
        <p:nvSpPr>
          <p:cNvPr id="11" name="Text 9"/>
          <p:cNvSpPr txBox="1"/>
          <p:nvPr/>
        </p:nvSpPr>
        <p:spPr>
          <a:xfrm>
            <a:off x="3710864" y="2560320"/>
            <a:ext cx="685800" cy="685800"/>
          </a:xfrm>
          <a:prstGeom prst="rect">
            <a:avLst/>
          </a:prstGeom>
          <a:noFill/>
          <a:ln/>
        </p:spPr>
        <p:txBody>
          <a:bodyPr wrap="square" lIns="0" tIns="0" rIns="0" bIns="0" rtlCol="0" anchor="ctr"/>
          <a:lstStyle/>
          <a:p>
            <a:pPr algn="ctr" indent="0" marL="0">
              <a:buNone/>
            </a:pPr>
            <a:r>
              <a:rPr lang="en-US" sz="1500" b="1" dirty="0">
                <a:solidFill>
                  <a:schemeClr val="accent5"/>
                </a:solidFill>
              </a:rPr>
              <a:t>02</a:t>
            </a:r>
            <a:endParaRPr lang="en-US" sz="1500" dirty="0"/>
          </a:p>
        </p:txBody>
      </p:sp>
      <p:sp>
        <p:nvSpPr>
          <p:cNvPr id="12" name="Text 10"/>
          <p:cNvSpPr txBox="1"/>
          <p:nvPr/>
        </p:nvSpPr>
        <p:spPr>
          <a:xfrm>
            <a:off x="3710864" y="3520440"/>
            <a:ext cx="1927784" cy="457200"/>
          </a:xfrm>
          <a:prstGeom prst="rect">
            <a:avLst/>
          </a:prstGeom>
          <a:noFill/>
          <a:ln/>
        </p:spPr>
        <p:txBody>
          <a:bodyPr wrap="square" lIns="0" tIns="0" rIns="0" bIns="0" rtlCol="0" anchor="ctr"/>
          <a:lstStyle/>
          <a:p>
            <a:pPr indent="0" marL="0">
              <a:buNone/>
            </a:pPr>
            <a:r>
              <a:rPr lang="en-US" sz="2000" b="1" dirty="0">
                <a:solidFill>
                  <a:schemeClr val="tx1"/>
                </a:solidFill>
              </a:rPr>
              <a:t>Findings</a:t>
            </a:r>
            <a:endParaRPr lang="en-US" sz="2000" dirty="0"/>
          </a:p>
        </p:txBody>
      </p:sp>
      <p:sp>
        <p:nvSpPr>
          <p:cNvPr id="13" name="Text 11"/>
          <p:cNvSpPr txBox="1"/>
          <p:nvPr/>
        </p:nvSpPr>
        <p:spPr>
          <a:xfrm>
            <a:off x="3710864" y="4023360"/>
            <a:ext cx="1927784" cy="914400"/>
          </a:xfrm>
          <a:prstGeom prst="rect">
            <a:avLst/>
          </a:prstGeom>
          <a:noFill/>
          <a:ln/>
        </p:spPr>
        <p:txBody>
          <a:bodyPr wrap="square" lIns="0" tIns="0" rIns="0" bIns="0" rtlCol="0" anchor="t"/>
          <a:lstStyle/>
          <a:p>
            <a:pPr indent="0" marL="0">
              <a:buNone/>
            </a:pPr>
            <a:r>
              <a:rPr lang="en-US" sz="1500" dirty="0">
                <a:solidFill>
                  <a:srgbClr val="3E4449"/>
                </a:solidFill>
              </a:rPr>
              <a:t>What we learned, with the evidence behind it.</a:t>
            </a:r>
            <a:endParaRPr lang="en-US" sz="1500" dirty="0"/>
          </a:p>
        </p:txBody>
      </p:sp>
      <p:sp>
        <p:nvSpPr>
          <p:cNvPr id="14" name="agenda-card-03"/>
          <p:cNvSpPr/>
          <p:nvPr/>
        </p:nvSpPr>
        <p:spPr>
          <a:xfrm>
            <a:off x="6233008" y="2240280"/>
            <a:ext cx="2567864" cy="2834640"/>
          </a:xfrm>
          <a:prstGeom prst="roundRect">
            <a:avLst>
              <a:gd name="adj" fmla="val 6410"/>
            </a:avLst>
          </a:prstGeom>
          <a:solidFill>
            <a:schemeClr val="bg1"/>
          </a:solidFill>
          <a:ln w="12700">
            <a:solidFill>
              <a:srgbClr val="E1E4E6"/>
            </a:solidFill>
            <a:prstDash val="solid"/>
          </a:ln>
          <a:effectLst>
            <a:outerShdw sx="100000" sy="100000" kx="0" ky="0" algn="bl" rotWithShape="0" blurRad="127000" dist="25400" dir="5400000">
              <a:srgbClr val="15181A">
                <a:alpha val="7000"/>
              </a:srgbClr>
            </a:outerShdw>
          </a:effectLst>
        </p:spPr>
      </p:sp>
      <p:sp>
        <p:nvSpPr>
          <p:cNvPr id="15" name="agenda-step-03"/>
          <p:cNvSpPr/>
          <p:nvPr/>
        </p:nvSpPr>
        <p:spPr>
          <a:xfrm>
            <a:off x="6553048" y="2560320"/>
            <a:ext cx="685800" cy="685800"/>
          </a:xfrm>
          <a:prstGeom prst="ellipse">
            <a:avLst/>
          </a:prstGeom>
          <a:solidFill>
            <a:schemeClr val="bg1"/>
          </a:solidFill>
          <a:ln w="19050">
            <a:solidFill>
              <a:schemeClr val="accent5"/>
            </a:solidFill>
            <a:prstDash val="solid"/>
          </a:ln>
        </p:spPr>
      </p:sp>
      <p:sp>
        <p:nvSpPr>
          <p:cNvPr id="16" name="Text 14"/>
          <p:cNvSpPr txBox="1"/>
          <p:nvPr/>
        </p:nvSpPr>
        <p:spPr>
          <a:xfrm>
            <a:off x="6553048" y="2560320"/>
            <a:ext cx="685800" cy="685800"/>
          </a:xfrm>
          <a:prstGeom prst="rect">
            <a:avLst/>
          </a:prstGeom>
          <a:noFill/>
          <a:ln/>
        </p:spPr>
        <p:txBody>
          <a:bodyPr wrap="square" lIns="0" tIns="0" rIns="0" bIns="0" rtlCol="0" anchor="ctr"/>
          <a:lstStyle/>
          <a:p>
            <a:pPr algn="ctr" indent="0" marL="0">
              <a:buNone/>
            </a:pPr>
            <a:r>
              <a:rPr lang="en-US" sz="1500" b="1" dirty="0">
                <a:solidFill>
                  <a:schemeClr val="accent5"/>
                </a:solidFill>
              </a:rPr>
              <a:t>03</a:t>
            </a:r>
            <a:endParaRPr lang="en-US" sz="1500" dirty="0"/>
          </a:p>
        </p:txBody>
      </p:sp>
      <p:sp>
        <p:nvSpPr>
          <p:cNvPr id="17" name="Text 15"/>
          <p:cNvSpPr txBox="1"/>
          <p:nvPr/>
        </p:nvSpPr>
        <p:spPr>
          <a:xfrm>
            <a:off x="6553048" y="3520440"/>
            <a:ext cx="1927784" cy="457200"/>
          </a:xfrm>
          <a:prstGeom prst="rect">
            <a:avLst/>
          </a:prstGeom>
          <a:noFill/>
          <a:ln/>
        </p:spPr>
        <p:txBody>
          <a:bodyPr wrap="square" lIns="0" tIns="0" rIns="0" bIns="0" rtlCol="0" anchor="ctr"/>
          <a:lstStyle/>
          <a:p>
            <a:pPr indent="0" marL="0">
              <a:buNone/>
            </a:pPr>
            <a:r>
              <a:rPr lang="en-US" sz="2000" b="1" dirty="0">
                <a:solidFill>
                  <a:schemeClr val="tx1"/>
                </a:solidFill>
              </a:rPr>
              <a:t>Options</a:t>
            </a:r>
            <a:endParaRPr lang="en-US" sz="2000" dirty="0"/>
          </a:p>
        </p:txBody>
      </p:sp>
      <p:sp>
        <p:nvSpPr>
          <p:cNvPr id="18" name="Text 16"/>
          <p:cNvSpPr txBox="1"/>
          <p:nvPr/>
        </p:nvSpPr>
        <p:spPr>
          <a:xfrm>
            <a:off x="6553048" y="4023360"/>
            <a:ext cx="1927784" cy="914400"/>
          </a:xfrm>
          <a:prstGeom prst="rect">
            <a:avLst/>
          </a:prstGeom>
          <a:noFill/>
          <a:ln/>
        </p:spPr>
        <p:txBody>
          <a:bodyPr wrap="square" lIns="0" tIns="0" rIns="0" bIns="0" rtlCol="0" anchor="t"/>
          <a:lstStyle/>
          <a:p>
            <a:pPr indent="0" marL="0">
              <a:buNone/>
            </a:pPr>
            <a:r>
              <a:rPr lang="en-US" sz="1500" dirty="0">
                <a:solidFill>
                  <a:srgbClr val="3E4449"/>
                </a:solidFill>
              </a:rPr>
              <a:t>Three paths forward and their trade-offs.</a:t>
            </a:r>
            <a:endParaRPr lang="en-US" sz="1500" dirty="0"/>
          </a:p>
        </p:txBody>
      </p:sp>
      <p:sp>
        <p:nvSpPr>
          <p:cNvPr id="19" name="agenda-card-04"/>
          <p:cNvSpPr/>
          <p:nvPr/>
        </p:nvSpPr>
        <p:spPr>
          <a:xfrm>
            <a:off x="9075191" y="2240280"/>
            <a:ext cx="2567864" cy="2834640"/>
          </a:xfrm>
          <a:prstGeom prst="roundRect">
            <a:avLst>
              <a:gd name="adj" fmla="val 6410"/>
            </a:avLst>
          </a:prstGeom>
          <a:solidFill>
            <a:schemeClr val="bg1"/>
          </a:solidFill>
          <a:ln w="12700">
            <a:solidFill>
              <a:srgbClr val="E1E4E6"/>
            </a:solidFill>
            <a:prstDash val="solid"/>
          </a:ln>
          <a:effectLst>
            <a:outerShdw sx="100000" sy="100000" kx="0" ky="0" algn="bl" rotWithShape="0" blurRad="127000" dist="25400" dir="5400000">
              <a:srgbClr val="15181A">
                <a:alpha val="7000"/>
              </a:srgbClr>
            </a:outerShdw>
          </a:effectLst>
        </p:spPr>
      </p:sp>
      <p:sp>
        <p:nvSpPr>
          <p:cNvPr id="20" name="agenda-step-04"/>
          <p:cNvSpPr/>
          <p:nvPr/>
        </p:nvSpPr>
        <p:spPr>
          <a:xfrm>
            <a:off x="9395231" y="2560320"/>
            <a:ext cx="685800" cy="685800"/>
          </a:xfrm>
          <a:prstGeom prst="ellipse">
            <a:avLst/>
          </a:prstGeom>
          <a:solidFill>
            <a:schemeClr val="bg1"/>
          </a:solidFill>
          <a:ln w="19050">
            <a:solidFill>
              <a:schemeClr val="accent5"/>
            </a:solidFill>
            <a:prstDash val="solid"/>
          </a:ln>
        </p:spPr>
      </p:sp>
      <p:sp>
        <p:nvSpPr>
          <p:cNvPr id="21" name="Text 19"/>
          <p:cNvSpPr txBox="1"/>
          <p:nvPr/>
        </p:nvSpPr>
        <p:spPr>
          <a:xfrm>
            <a:off x="9395231" y="2560320"/>
            <a:ext cx="685800" cy="685800"/>
          </a:xfrm>
          <a:prstGeom prst="rect">
            <a:avLst/>
          </a:prstGeom>
          <a:noFill/>
          <a:ln/>
        </p:spPr>
        <p:txBody>
          <a:bodyPr wrap="square" lIns="0" tIns="0" rIns="0" bIns="0" rtlCol="0" anchor="ctr"/>
          <a:lstStyle/>
          <a:p>
            <a:pPr algn="ctr" indent="0" marL="0">
              <a:buNone/>
            </a:pPr>
            <a:r>
              <a:rPr lang="en-US" sz="1500" b="1" dirty="0">
                <a:solidFill>
                  <a:schemeClr val="accent5"/>
                </a:solidFill>
              </a:rPr>
              <a:t>04</a:t>
            </a:r>
            <a:endParaRPr lang="en-US" sz="1500" dirty="0"/>
          </a:p>
        </p:txBody>
      </p:sp>
      <p:sp>
        <p:nvSpPr>
          <p:cNvPr id="22" name="Text 20"/>
          <p:cNvSpPr txBox="1"/>
          <p:nvPr/>
        </p:nvSpPr>
        <p:spPr>
          <a:xfrm>
            <a:off x="9395231" y="3520440"/>
            <a:ext cx="1927784" cy="457200"/>
          </a:xfrm>
          <a:prstGeom prst="rect">
            <a:avLst/>
          </a:prstGeom>
          <a:noFill/>
          <a:ln/>
        </p:spPr>
        <p:txBody>
          <a:bodyPr wrap="square" lIns="0" tIns="0" rIns="0" bIns="0" rtlCol="0" anchor="ctr"/>
          <a:lstStyle/>
          <a:p>
            <a:pPr indent="0" marL="0">
              <a:buNone/>
            </a:pPr>
            <a:r>
              <a:rPr lang="en-US" sz="2000" b="1" dirty="0">
                <a:solidFill>
                  <a:schemeClr val="tx1"/>
                </a:solidFill>
              </a:rPr>
              <a:t>Next steps</a:t>
            </a:r>
            <a:endParaRPr lang="en-US" sz="2000" dirty="0"/>
          </a:p>
        </p:txBody>
      </p:sp>
      <p:sp>
        <p:nvSpPr>
          <p:cNvPr id="23" name="Text 21"/>
          <p:cNvSpPr txBox="1"/>
          <p:nvPr/>
        </p:nvSpPr>
        <p:spPr>
          <a:xfrm>
            <a:off x="9395231" y="4023360"/>
            <a:ext cx="1927784" cy="914400"/>
          </a:xfrm>
          <a:prstGeom prst="rect">
            <a:avLst/>
          </a:prstGeom>
          <a:noFill/>
          <a:ln/>
        </p:spPr>
        <p:txBody>
          <a:bodyPr wrap="square" lIns="0" tIns="0" rIns="0" bIns="0" rtlCol="0" anchor="t"/>
          <a:lstStyle/>
          <a:p>
            <a:pPr indent="0" marL="0">
              <a:buNone/>
            </a:pPr>
            <a:r>
              <a:rPr lang="en-US" sz="1500" dirty="0">
                <a:solidFill>
                  <a:srgbClr val="3E4449"/>
                </a:solidFill>
              </a:rPr>
              <a:t>The decision we need and what happens after.</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2148840"/>
            <a:ext cx="5486400" cy="411480"/>
          </a:xfrm>
          <a:prstGeom prst="rect">
            <a:avLst/>
          </a:prstGeom>
          <a:noFill/>
          <a:ln/>
        </p:spPr>
        <p:txBody>
          <a:bodyPr wrap="square" lIns="0" tIns="0" rIns="0" bIns="0" rtlCol="0"/>
          <a:lstStyle/>
          <a:p>
            <a:pPr algn="l" indent="0" marL="0">
              <a:buNone/>
            </a:pPr>
            <a:r>
              <a:rPr lang="en-US" sz="1400" b="1" spc="300" kern="0" dirty="0">
                <a:solidFill>
                  <a:schemeClr val="accent2"/>
                </a:solidFill>
              </a:rPr>
              <a:t>01</a:t>
            </a:r>
            <a:endParaRPr lang="en-US" sz="1400" dirty="0"/>
          </a:p>
        </p:txBody>
      </p:sp>
      <p:sp>
        <p:nvSpPr>
          <p:cNvPr id="3" name="Text 1"/>
          <p:cNvSpPr/>
          <p:nvPr>
            <p:ph idx="102" type="title" hasCustomPrompt="1"/>
          </p:nvPr>
        </p:nvSpPr>
        <p:spPr>
          <a:xfrm>
            <a:off x="548640" y="2606040"/>
            <a:ext cx="8686800" cy="1463040"/>
          </a:xfrm>
          <a:prstGeom prst="rect">
            <a:avLst/>
          </a:prstGeom>
          <a:noFill/>
          <a:ln/>
        </p:spPr>
        <p:txBody>
          <a:bodyPr wrap="square" lIns="0" tIns="0" rIns="0" bIns="0" rtlCol="0" anchor="t"/>
          <a:lstStyle/>
          <a:p>
            <a:pPr algn="l" indent="0" marL="0">
              <a:buNone/>
            </a:pPr>
            <a:r>
              <a:rPr lang="en-US" sz="4400" b="1" dirty="0">
                <a:solidFill>
                  <a:schemeClr val="bg1"/>
                </a:solidFill>
              </a:rPr>
              <a:t>Where we are </a:t>
            </a:r>
            <a:r>
              <a:rPr lang="en-US" sz="4400" b="0" i="1" dirty="0">
                <a:solidFill>
                  <a:schemeClr val="accent1"/>
                </a:solidFill>
                <a:latin typeface="DM Serif Display" pitchFamily="34" charset="0"/>
                <a:ea typeface="DM Serif Display" pitchFamily="34" charset="-122"/>
                <a:cs typeface="DM Serif Display" pitchFamily="34" charset="-120"/>
              </a:rPr>
              <a:t>today</a:t>
            </a:r>
            <a:endParaRPr lang="en-US" sz="4400" dirty="0"/>
          </a:p>
        </p:txBody>
      </p:sp>
      <p:sp>
        <p:nvSpPr>
          <p:cNvPr id="4" name="Text 1"/>
          <p:cNvSpPr/>
          <p:nvPr>
            <p:ph idx="103" type="body" hasCustomPrompt="1"/>
          </p:nvPr>
        </p:nvSpPr>
        <p:spPr>
          <a:xfrm>
            <a:off x="548640" y="4160520"/>
            <a:ext cx="7772400" cy="914400"/>
          </a:xfrm>
          <a:prstGeom prst="rect">
            <a:avLst/>
          </a:prstGeom>
          <a:noFill/>
          <a:ln/>
        </p:spPr>
        <p:txBody>
          <a:bodyPr wrap="square" lIns="0" tIns="0" rIns="0" bIns="0" rtlCol="0" anchor="t"/>
          <a:lstStyle/>
          <a:p>
            <a:pPr algn="l" indent="0" marL="0">
              <a:buNone/>
            </a:pPr>
            <a:r>
              <a:rPr lang="en-US" sz="1800" dirty="0">
                <a:solidFill>
                  <a:srgbClr val="A9C0C5"/>
                </a:solidFill>
              </a:rPr>
              <a:t>The current state, in numbers and in the words of the people doing the work.</a:t>
            </a:r>
            <a:endParaRPr lang="en-US" sz="18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C0C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7315200" cy="320040"/>
          </a:xfrm>
          <a:prstGeom prst="rect">
            <a:avLst/>
          </a:prstGeom>
          <a:noFill/>
          <a:ln/>
        </p:spPr>
        <p:txBody>
          <a:bodyPr wrap="square" lIns="0" tIns="0" rIns="0" bIns="0" rtlCol="0" anchor="b"/>
          <a:lstStyle/>
          <a:p>
            <a:pPr algn="l" indent="0" marL="0">
              <a:buNone/>
            </a:pPr>
            <a:r>
              <a:rPr lang="en-US" sz="1200" b="1" spc="300" kern="0" dirty="0">
                <a:solidFill>
                  <a:schemeClr val="accent5"/>
                </a:solidFill>
              </a:rPr>
              <a:t>WHAT WE DO</a:t>
            </a:r>
            <a:endParaRPr lang="en-US" sz="1200" dirty="0"/>
          </a:p>
        </p:txBody>
      </p:sp>
      <p:sp>
        <p:nvSpPr>
          <p:cNvPr id="3" name="Text 1"/>
          <p:cNvSpPr/>
          <p:nvPr>
            <p:ph idx="102" type="title" hasCustomPrompt="1"/>
          </p:nvPr>
        </p:nvSpPr>
        <p:spPr>
          <a:xfrm>
            <a:off x="548640" y="822960"/>
            <a:ext cx="11094415" cy="868680"/>
          </a:xfrm>
          <a:prstGeom prst="rect">
            <a:avLst/>
          </a:prstGeom>
          <a:noFill/>
          <a:ln/>
        </p:spPr>
        <p:txBody>
          <a:bodyPr wrap="square" lIns="0" tIns="0" rIns="0" bIns="0" rtlCol="0" anchor="t"/>
          <a:lstStyle/>
          <a:p>
            <a:pPr algn="l" indent="0" marL="0">
              <a:buNone/>
            </a:pPr>
            <a:r>
              <a:rPr lang="en-US" sz="3600" b="1" dirty="0">
                <a:solidFill>
                  <a:schemeClr val="tx1"/>
                </a:solidFill>
              </a:rPr>
              <a:t>Great outcomes start with the </a:t>
            </a:r>
            <a:r>
              <a:rPr lang="en-US" sz="3600" b="0" i="1" dirty="0">
                <a:solidFill>
                  <a:schemeClr val="accent1"/>
                </a:solidFill>
                <a:latin typeface="DM Serif Display" pitchFamily="34" charset="0"/>
                <a:ea typeface="DM Serif Display" pitchFamily="34" charset="-122"/>
                <a:cs typeface="DM Serif Display" pitchFamily="34" charset="-120"/>
              </a:rPr>
              <a:t>right thinking</a:t>
            </a:r>
            <a:endParaRPr lang="en-US" sz="3600" dirty="0"/>
          </a:p>
        </p:txBody>
      </p:sp>
      <p:sp>
        <p:nvSpPr>
          <p:cNvPr id="4" name="service-card-AI"/>
          <p:cNvSpPr/>
          <p:nvPr/>
        </p:nvSpPr>
        <p:spPr>
          <a:xfrm>
            <a:off x="548640" y="2148840"/>
            <a:ext cx="2567864" cy="3657600"/>
          </a:xfrm>
          <a:prstGeom prst="roundRect">
            <a:avLst>
              <a:gd name="adj" fmla="val 6410"/>
            </a:avLst>
          </a:prstGeom>
          <a:solidFill>
            <a:schemeClr val="bg1"/>
          </a:solidFill>
          <a:ln w="12700">
            <a:solidFill>
              <a:srgbClr val="E1E4E6"/>
            </a:solidFill>
            <a:prstDash val="solid"/>
          </a:ln>
          <a:effectLst>
            <a:outerShdw sx="100000" sy="100000" kx="0" ky="0" algn="bl" rotWithShape="0" blurRad="127000" dist="25400" dir="5400000">
              <a:srgbClr val="15181A">
                <a:alpha val="7000"/>
              </a:srgbClr>
            </a:outerShdw>
          </a:effectLst>
        </p:spPr>
      </p:sp>
      <p:sp>
        <p:nvSpPr>
          <p:cNvPr id="5" name="service-icon-AI"/>
          <p:cNvSpPr/>
          <p:nvPr/>
        </p:nvSpPr>
        <p:spPr>
          <a:xfrm>
            <a:off x="868680" y="2468880"/>
            <a:ext cx="685800" cy="685800"/>
          </a:xfrm>
          <a:prstGeom prst="roundRect">
            <a:avLst>
              <a:gd name="adj" fmla="val 16000"/>
            </a:avLst>
          </a:prstGeom>
          <a:solidFill>
            <a:schemeClr val="accent1">
              <a:alpha val="18000"/>
            </a:schemeClr>
          </a:solidFill>
          <a:ln/>
        </p:spPr>
      </p:sp>
      <p:sp>
        <p:nvSpPr>
          <p:cNvPr id="6" name="Text 4"/>
          <p:cNvSpPr txBox="1"/>
          <p:nvPr/>
        </p:nvSpPr>
        <p:spPr>
          <a:xfrm>
            <a:off x="868680" y="2468880"/>
            <a:ext cx="685800" cy="685800"/>
          </a:xfrm>
          <a:prstGeom prst="rect">
            <a:avLst/>
          </a:prstGeom>
          <a:noFill/>
          <a:ln/>
        </p:spPr>
        <p:txBody>
          <a:bodyPr wrap="square" lIns="0" tIns="0" rIns="0" bIns="0" rtlCol="0" anchor="ctr"/>
          <a:lstStyle/>
          <a:p>
            <a:pPr algn="ctr" indent="0" marL="0">
              <a:buNone/>
            </a:pPr>
            <a:r>
              <a:rPr lang="en-US" sz="1500" b="1" dirty="0">
                <a:solidFill>
                  <a:srgbClr val="B11032"/>
                </a:solidFill>
              </a:rPr>
              <a:t>AI</a:t>
            </a:r>
            <a:endParaRPr lang="en-US" sz="1500" dirty="0"/>
          </a:p>
        </p:txBody>
      </p:sp>
      <p:sp>
        <p:nvSpPr>
          <p:cNvPr id="7" name="Text 5"/>
          <p:cNvSpPr txBox="1"/>
          <p:nvPr/>
        </p:nvSpPr>
        <p:spPr>
          <a:xfrm>
            <a:off x="868680" y="3429000"/>
            <a:ext cx="1927784" cy="731520"/>
          </a:xfrm>
          <a:prstGeom prst="rect">
            <a:avLst/>
          </a:prstGeom>
          <a:noFill/>
          <a:ln/>
        </p:spPr>
        <p:txBody>
          <a:bodyPr wrap="square" lIns="0" tIns="0" rIns="0" bIns="0" rtlCol="0" anchor="t"/>
          <a:lstStyle/>
          <a:p>
            <a:pPr indent="0" marL="0">
              <a:buNone/>
            </a:pPr>
            <a:r>
              <a:rPr lang="en-US" sz="1900" b="1" dirty="0">
                <a:solidFill>
                  <a:schemeClr val="tx1"/>
                </a:solidFill>
              </a:rPr>
              <a:t>Artificial intelligence</a:t>
            </a:r>
            <a:endParaRPr lang="en-US" sz="1900" dirty="0"/>
          </a:p>
        </p:txBody>
      </p:sp>
      <p:sp>
        <p:nvSpPr>
          <p:cNvPr id="8" name="Text 6"/>
          <p:cNvSpPr txBox="1"/>
          <p:nvPr/>
        </p:nvSpPr>
        <p:spPr>
          <a:xfrm>
            <a:off x="868680" y="4160520"/>
            <a:ext cx="1927784" cy="1005840"/>
          </a:xfrm>
          <a:prstGeom prst="rect">
            <a:avLst/>
          </a:prstGeom>
          <a:noFill/>
          <a:ln/>
        </p:spPr>
        <p:txBody>
          <a:bodyPr wrap="square" lIns="0" tIns="0" rIns="0" bIns="0" rtlCol="0" anchor="t"/>
          <a:lstStyle/>
          <a:p>
            <a:pPr indent="0" marL="0">
              <a:buNone/>
            </a:pPr>
            <a:r>
              <a:rPr lang="en-US" sz="1400" dirty="0">
                <a:solidFill>
                  <a:srgbClr val="3E4449"/>
                </a:solidFill>
              </a:rPr>
              <a:t>Practical AI that delivers measurable business value.</a:t>
            </a:r>
            <a:endParaRPr lang="en-US" sz="1400" dirty="0"/>
          </a:p>
        </p:txBody>
      </p:sp>
      <p:sp>
        <p:nvSpPr>
          <p:cNvPr id="9" name="Text 7"/>
          <p:cNvSpPr txBox="1"/>
          <p:nvPr/>
        </p:nvSpPr>
        <p:spPr>
          <a:xfrm>
            <a:off x="868680" y="5257800"/>
            <a:ext cx="1927784" cy="320040"/>
          </a:xfrm>
          <a:prstGeom prst="rect">
            <a:avLst/>
          </a:prstGeom>
          <a:noFill/>
          <a:ln/>
        </p:spPr>
        <p:txBody>
          <a:bodyPr wrap="square" lIns="0" tIns="0" rIns="0" bIns="0" rtlCol="0" anchor="ctr"/>
          <a:lstStyle/>
          <a:p>
            <a:pPr indent="0" marL="0">
              <a:buNone/>
            </a:pPr>
            <a:r>
              <a:rPr lang="en-US" sz="1400" dirty="0">
                <a:solidFill>
                  <a:srgbClr val="B11032"/>
                </a:solidFill>
              </a:rPr>
              <a:t>Learn more  ›</a:t>
            </a:r>
            <a:endParaRPr lang="en-US" sz="1400" dirty="0"/>
          </a:p>
        </p:txBody>
      </p:sp>
      <p:sp>
        <p:nvSpPr>
          <p:cNvPr id="10" name="service-card-DA"/>
          <p:cNvSpPr/>
          <p:nvPr/>
        </p:nvSpPr>
        <p:spPr>
          <a:xfrm>
            <a:off x="3390824" y="2148840"/>
            <a:ext cx="2567864" cy="3657600"/>
          </a:xfrm>
          <a:prstGeom prst="roundRect">
            <a:avLst>
              <a:gd name="adj" fmla="val 6410"/>
            </a:avLst>
          </a:prstGeom>
          <a:solidFill>
            <a:schemeClr val="bg1"/>
          </a:solidFill>
          <a:ln w="12700">
            <a:solidFill>
              <a:srgbClr val="E1E4E6"/>
            </a:solidFill>
            <a:prstDash val="solid"/>
          </a:ln>
          <a:effectLst>
            <a:outerShdw sx="100000" sy="100000" kx="0" ky="0" algn="bl" rotWithShape="0" blurRad="127000" dist="25400" dir="5400000">
              <a:srgbClr val="15181A">
                <a:alpha val="7000"/>
              </a:srgbClr>
            </a:outerShdw>
          </a:effectLst>
        </p:spPr>
      </p:sp>
      <p:sp>
        <p:nvSpPr>
          <p:cNvPr id="11" name="service-icon-DA"/>
          <p:cNvSpPr/>
          <p:nvPr/>
        </p:nvSpPr>
        <p:spPr>
          <a:xfrm>
            <a:off x="3710864" y="2468880"/>
            <a:ext cx="685800" cy="685800"/>
          </a:xfrm>
          <a:prstGeom prst="roundRect">
            <a:avLst>
              <a:gd name="adj" fmla="val 16000"/>
            </a:avLst>
          </a:prstGeom>
          <a:solidFill>
            <a:schemeClr val="accent3">
              <a:alpha val="18000"/>
            </a:schemeClr>
          </a:solidFill>
          <a:ln/>
        </p:spPr>
      </p:sp>
      <p:sp>
        <p:nvSpPr>
          <p:cNvPr id="12" name="Text 10"/>
          <p:cNvSpPr txBox="1"/>
          <p:nvPr/>
        </p:nvSpPr>
        <p:spPr>
          <a:xfrm>
            <a:off x="3710864" y="2468880"/>
            <a:ext cx="685800" cy="685800"/>
          </a:xfrm>
          <a:prstGeom prst="rect">
            <a:avLst/>
          </a:prstGeom>
          <a:noFill/>
          <a:ln/>
        </p:spPr>
        <p:txBody>
          <a:bodyPr wrap="square" lIns="0" tIns="0" rIns="0" bIns="0" rtlCol="0" anchor="ctr"/>
          <a:lstStyle/>
          <a:p>
            <a:pPr algn="ctr" indent="0" marL="0">
              <a:buNone/>
            </a:pPr>
            <a:r>
              <a:rPr lang="en-US" sz="1500" b="1" dirty="0">
                <a:solidFill>
                  <a:srgbClr val="A43B00"/>
                </a:solidFill>
              </a:rPr>
              <a:t>DA</a:t>
            </a:r>
            <a:endParaRPr lang="en-US" sz="1500" dirty="0"/>
          </a:p>
        </p:txBody>
      </p:sp>
      <p:sp>
        <p:nvSpPr>
          <p:cNvPr id="13" name="Text 11"/>
          <p:cNvSpPr txBox="1"/>
          <p:nvPr/>
        </p:nvSpPr>
        <p:spPr>
          <a:xfrm>
            <a:off x="3710864" y="3429000"/>
            <a:ext cx="1927784" cy="731520"/>
          </a:xfrm>
          <a:prstGeom prst="rect">
            <a:avLst/>
          </a:prstGeom>
          <a:noFill/>
          <a:ln/>
        </p:spPr>
        <p:txBody>
          <a:bodyPr wrap="square" lIns="0" tIns="0" rIns="0" bIns="0" rtlCol="0" anchor="t"/>
          <a:lstStyle/>
          <a:p>
            <a:pPr indent="0" marL="0">
              <a:buNone/>
            </a:pPr>
            <a:r>
              <a:rPr lang="en-US" sz="1900" b="1" dirty="0">
                <a:solidFill>
                  <a:schemeClr val="tx1"/>
                </a:solidFill>
              </a:rPr>
              <a:t>Data &amp; analytics</a:t>
            </a:r>
            <a:endParaRPr lang="en-US" sz="1900" dirty="0"/>
          </a:p>
        </p:txBody>
      </p:sp>
      <p:sp>
        <p:nvSpPr>
          <p:cNvPr id="14" name="Text 12"/>
          <p:cNvSpPr txBox="1"/>
          <p:nvPr/>
        </p:nvSpPr>
        <p:spPr>
          <a:xfrm>
            <a:off x="3710864" y="4160520"/>
            <a:ext cx="1927784" cy="1005840"/>
          </a:xfrm>
          <a:prstGeom prst="rect">
            <a:avLst/>
          </a:prstGeom>
          <a:noFill/>
          <a:ln/>
        </p:spPr>
        <p:txBody>
          <a:bodyPr wrap="square" lIns="0" tIns="0" rIns="0" bIns="0" rtlCol="0" anchor="t"/>
          <a:lstStyle/>
          <a:p>
            <a:pPr indent="0" marL="0">
              <a:buNone/>
            </a:pPr>
            <a:r>
              <a:rPr lang="en-US" sz="1400" dirty="0">
                <a:solidFill>
                  <a:srgbClr val="3E4449"/>
                </a:solidFill>
              </a:rPr>
              <a:t>Turn fragmented data into insights that drive better decisions.</a:t>
            </a:r>
            <a:endParaRPr lang="en-US" sz="1400" dirty="0"/>
          </a:p>
        </p:txBody>
      </p:sp>
      <p:sp>
        <p:nvSpPr>
          <p:cNvPr id="15" name="Text 13"/>
          <p:cNvSpPr txBox="1"/>
          <p:nvPr/>
        </p:nvSpPr>
        <p:spPr>
          <a:xfrm>
            <a:off x="3710864" y="5257800"/>
            <a:ext cx="1927784" cy="320040"/>
          </a:xfrm>
          <a:prstGeom prst="rect">
            <a:avLst/>
          </a:prstGeom>
          <a:noFill/>
          <a:ln/>
        </p:spPr>
        <p:txBody>
          <a:bodyPr wrap="square" lIns="0" tIns="0" rIns="0" bIns="0" rtlCol="0" anchor="ctr"/>
          <a:lstStyle/>
          <a:p>
            <a:pPr indent="0" marL="0">
              <a:buNone/>
            </a:pPr>
            <a:r>
              <a:rPr lang="en-US" sz="1400" dirty="0">
                <a:solidFill>
                  <a:srgbClr val="A43B00"/>
                </a:solidFill>
              </a:rPr>
              <a:t>Learn more  ›</a:t>
            </a:r>
            <a:endParaRPr lang="en-US" sz="1400" dirty="0"/>
          </a:p>
        </p:txBody>
      </p:sp>
      <p:sp>
        <p:nvSpPr>
          <p:cNvPr id="16" name="service-card-CL"/>
          <p:cNvSpPr/>
          <p:nvPr/>
        </p:nvSpPr>
        <p:spPr>
          <a:xfrm>
            <a:off x="6233008" y="2148840"/>
            <a:ext cx="2567864" cy="3657600"/>
          </a:xfrm>
          <a:prstGeom prst="roundRect">
            <a:avLst>
              <a:gd name="adj" fmla="val 6410"/>
            </a:avLst>
          </a:prstGeom>
          <a:solidFill>
            <a:schemeClr val="bg1"/>
          </a:solidFill>
          <a:ln w="12700">
            <a:solidFill>
              <a:srgbClr val="E1E4E6"/>
            </a:solidFill>
            <a:prstDash val="solid"/>
          </a:ln>
          <a:effectLst>
            <a:outerShdw sx="100000" sy="100000" kx="0" ky="0" algn="bl" rotWithShape="0" blurRad="127000" dist="25400" dir="5400000">
              <a:srgbClr val="15181A">
                <a:alpha val="7000"/>
              </a:srgbClr>
            </a:outerShdw>
          </a:effectLst>
        </p:spPr>
      </p:sp>
      <p:sp>
        <p:nvSpPr>
          <p:cNvPr id="17" name="service-icon-CL"/>
          <p:cNvSpPr/>
          <p:nvPr/>
        </p:nvSpPr>
        <p:spPr>
          <a:xfrm>
            <a:off x="6553048" y="2468880"/>
            <a:ext cx="685800" cy="685800"/>
          </a:xfrm>
          <a:prstGeom prst="roundRect">
            <a:avLst>
              <a:gd name="adj" fmla="val 16000"/>
            </a:avLst>
          </a:prstGeom>
          <a:solidFill>
            <a:schemeClr val="accent4">
              <a:alpha val="18000"/>
            </a:schemeClr>
          </a:solidFill>
          <a:ln/>
        </p:spPr>
      </p:sp>
      <p:sp>
        <p:nvSpPr>
          <p:cNvPr id="18" name="Text 16"/>
          <p:cNvSpPr txBox="1"/>
          <p:nvPr/>
        </p:nvSpPr>
        <p:spPr>
          <a:xfrm>
            <a:off x="6553048" y="2468880"/>
            <a:ext cx="685800" cy="685800"/>
          </a:xfrm>
          <a:prstGeom prst="rect">
            <a:avLst/>
          </a:prstGeom>
          <a:noFill/>
          <a:ln/>
        </p:spPr>
        <p:txBody>
          <a:bodyPr wrap="square" lIns="0" tIns="0" rIns="0" bIns="0" rtlCol="0" anchor="ctr"/>
          <a:lstStyle/>
          <a:p>
            <a:pPr algn="ctr" indent="0" marL="0">
              <a:buNone/>
            </a:pPr>
            <a:r>
              <a:rPr lang="en-US" sz="1500" b="1" dirty="0">
                <a:solidFill>
                  <a:srgbClr val="A04D00"/>
                </a:solidFill>
              </a:rPr>
              <a:t>CL</a:t>
            </a:r>
            <a:endParaRPr lang="en-US" sz="1500" dirty="0"/>
          </a:p>
        </p:txBody>
      </p:sp>
      <p:sp>
        <p:nvSpPr>
          <p:cNvPr id="19" name="Text 17"/>
          <p:cNvSpPr txBox="1"/>
          <p:nvPr/>
        </p:nvSpPr>
        <p:spPr>
          <a:xfrm>
            <a:off x="6553048" y="3429000"/>
            <a:ext cx="1927784" cy="731520"/>
          </a:xfrm>
          <a:prstGeom prst="rect">
            <a:avLst/>
          </a:prstGeom>
          <a:noFill/>
          <a:ln/>
        </p:spPr>
        <p:txBody>
          <a:bodyPr wrap="square" lIns="0" tIns="0" rIns="0" bIns="0" rtlCol="0" anchor="t"/>
          <a:lstStyle/>
          <a:p>
            <a:pPr indent="0" marL="0">
              <a:buNone/>
            </a:pPr>
            <a:r>
              <a:rPr lang="en-US" sz="1900" b="1" dirty="0">
                <a:solidFill>
                  <a:schemeClr val="tx1"/>
                </a:solidFill>
              </a:rPr>
              <a:t>Cloud &amp; platforms</a:t>
            </a:r>
            <a:endParaRPr lang="en-US" sz="1900" dirty="0"/>
          </a:p>
        </p:txBody>
      </p:sp>
      <p:sp>
        <p:nvSpPr>
          <p:cNvPr id="20" name="Text 18"/>
          <p:cNvSpPr txBox="1"/>
          <p:nvPr/>
        </p:nvSpPr>
        <p:spPr>
          <a:xfrm>
            <a:off x="6553048" y="4160520"/>
            <a:ext cx="1927784" cy="1005840"/>
          </a:xfrm>
          <a:prstGeom prst="rect">
            <a:avLst/>
          </a:prstGeom>
          <a:noFill/>
          <a:ln/>
        </p:spPr>
        <p:txBody>
          <a:bodyPr wrap="square" lIns="0" tIns="0" rIns="0" bIns="0" rtlCol="0" anchor="t"/>
          <a:lstStyle/>
          <a:p>
            <a:pPr indent="0" marL="0">
              <a:buNone/>
            </a:pPr>
            <a:r>
              <a:rPr lang="en-US" sz="1400" dirty="0">
                <a:solidFill>
                  <a:srgbClr val="3E4449"/>
                </a:solidFill>
              </a:rPr>
              <a:t>Secure, scalable foundations built for growth.</a:t>
            </a:r>
            <a:endParaRPr lang="en-US" sz="1400" dirty="0"/>
          </a:p>
        </p:txBody>
      </p:sp>
      <p:sp>
        <p:nvSpPr>
          <p:cNvPr id="21" name="Text 19"/>
          <p:cNvSpPr txBox="1"/>
          <p:nvPr/>
        </p:nvSpPr>
        <p:spPr>
          <a:xfrm>
            <a:off x="6553048" y="5257800"/>
            <a:ext cx="1927784" cy="320040"/>
          </a:xfrm>
          <a:prstGeom prst="rect">
            <a:avLst/>
          </a:prstGeom>
          <a:noFill/>
          <a:ln/>
        </p:spPr>
        <p:txBody>
          <a:bodyPr wrap="square" lIns="0" tIns="0" rIns="0" bIns="0" rtlCol="0" anchor="ctr"/>
          <a:lstStyle/>
          <a:p>
            <a:pPr indent="0" marL="0">
              <a:buNone/>
            </a:pPr>
            <a:r>
              <a:rPr lang="en-US" sz="1400" dirty="0">
                <a:solidFill>
                  <a:srgbClr val="A04D00"/>
                </a:solidFill>
              </a:rPr>
              <a:t>Learn more  ›</a:t>
            </a:r>
            <a:endParaRPr lang="en-US" sz="1400" dirty="0"/>
          </a:p>
        </p:txBody>
      </p:sp>
      <p:sp>
        <p:nvSpPr>
          <p:cNvPr id="22" name="service-card-IN"/>
          <p:cNvSpPr/>
          <p:nvPr/>
        </p:nvSpPr>
        <p:spPr>
          <a:xfrm>
            <a:off x="9075191" y="2148840"/>
            <a:ext cx="2567864" cy="3657600"/>
          </a:xfrm>
          <a:prstGeom prst="roundRect">
            <a:avLst>
              <a:gd name="adj" fmla="val 6410"/>
            </a:avLst>
          </a:prstGeom>
          <a:solidFill>
            <a:schemeClr val="bg1"/>
          </a:solidFill>
          <a:ln w="12700">
            <a:solidFill>
              <a:srgbClr val="E1E4E6"/>
            </a:solidFill>
            <a:prstDash val="solid"/>
          </a:ln>
          <a:effectLst>
            <a:outerShdw sx="100000" sy="100000" kx="0" ky="0" algn="bl" rotWithShape="0" blurRad="127000" dist="25400" dir="5400000">
              <a:srgbClr val="15181A">
                <a:alpha val="7000"/>
              </a:srgbClr>
            </a:outerShdw>
          </a:effectLst>
        </p:spPr>
      </p:sp>
      <p:sp>
        <p:nvSpPr>
          <p:cNvPr id="23" name="service-icon-IN"/>
          <p:cNvSpPr/>
          <p:nvPr/>
        </p:nvSpPr>
        <p:spPr>
          <a:xfrm>
            <a:off x="9395231" y="2468880"/>
            <a:ext cx="685800" cy="685800"/>
          </a:xfrm>
          <a:prstGeom prst="roundRect">
            <a:avLst>
              <a:gd name="adj" fmla="val 16000"/>
            </a:avLst>
          </a:prstGeom>
          <a:solidFill>
            <a:schemeClr val="accent2">
              <a:alpha val="18000"/>
            </a:schemeClr>
          </a:solidFill>
          <a:ln/>
        </p:spPr>
      </p:sp>
      <p:sp>
        <p:nvSpPr>
          <p:cNvPr id="24" name="Text 22"/>
          <p:cNvSpPr txBox="1"/>
          <p:nvPr/>
        </p:nvSpPr>
        <p:spPr>
          <a:xfrm>
            <a:off x="9395231" y="2468880"/>
            <a:ext cx="685800" cy="685800"/>
          </a:xfrm>
          <a:prstGeom prst="rect">
            <a:avLst/>
          </a:prstGeom>
          <a:noFill/>
          <a:ln/>
        </p:spPr>
        <p:txBody>
          <a:bodyPr wrap="square" lIns="0" tIns="0" rIns="0" bIns="0" rtlCol="0" anchor="ctr"/>
          <a:lstStyle/>
          <a:p>
            <a:pPr algn="ctr" indent="0" marL="0">
              <a:buNone/>
            </a:pPr>
            <a:r>
              <a:rPr lang="en-US" sz="1500" b="1" dirty="0">
                <a:solidFill>
                  <a:srgbClr val="0A5D7A"/>
                </a:solidFill>
              </a:rPr>
              <a:t>IN</a:t>
            </a:r>
            <a:endParaRPr lang="en-US" sz="1500" dirty="0"/>
          </a:p>
        </p:txBody>
      </p:sp>
      <p:sp>
        <p:nvSpPr>
          <p:cNvPr id="25" name="Text 23"/>
          <p:cNvSpPr txBox="1"/>
          <p:nvPr/>
        </p:nvSpPr>
        <p:spPr>
          <a:xfrm>
            <a:off x="9395231" y="3429000"/>
            <a:ext cx="1927784" cy="731520"/>
          </a:xfrm>
          <a:prstGeom prst="rect">
            <a:avLst/>
          </a:prstGeom>
          <a:noFill/>
          <a:ln/>
        </p:spPr>
        <p:txBody>
          <a:bodyPr wrap="square" lIns="0" tIns="0" rIns="0" bIns="0" rtlCol="0" anchor="t"/>
          <a:lstStyle/>
          <a:p>
            <a:pPr indent="0" marL="0">
              <a:buNone/>
            </a:pPr>
            <a:r>
              <a:rPr lang="en-US" sz="1900" b="1" dirty="0">
                <a:solidFill>
                  <a:schemeClr val="tx1"/>
                </a:solidFill>
              </a:rPr>
              <a:t>Integration</a:t>
            </a:r>
            <a:endParaRPr lang="en-US" sz="1900" dirty="0"/>
          </a:p>
        </p:txBody>
      </p:sp>
      <p:sp>
        <p:nvSpPr>
          <p:cNvPr id="26" name="Text 24"/>
          <p:cNvSpPr txBox="1"/>
          <p:nvPr/>
        </p:nvSpPr>
        <p:spPr>
          <a:xfrm>
            <a:off x="9395231" y="4160520"/>
            <a:ext cx="1927784" cy="1005840"/>
          </a:xfrm>
          <a:prstGeom prst="rect">
            <a:avLst/>
          </a:prstGeom>
          <a:noFill/>
          <a:ln/>
        </p:spPr>
        <p:txBody>
          <a:bodyPr wrap="square" lIns="0" tIns="0" rIns="0" bIns="0" rtlCol="0" anchor="t"/>
          <a:lstStyle/>
          <a:p>
            <a:pPr indent="0" marL="0">
              <a:buNone/>
            </a:pPr>
            <a:r>
              <a:rPr lang="en-US" sz="1400" dirty="0">
                <a:solidFill>
                  <a:srgbClr val="3E4449"/>
                </a:solidFill>
              </a:rPr>
              <a:t>Connect systems and processes to simplify operations.</a:t>
            </a:r>
            <a:endParaRPr lang="en-US" sz="1400" dirty="0"/>
          </a:p>
        </p:txBody>
      </p:sp>
      <p:sp>
        <p:nvSpPr>
          <p:cNvPr id="27" name="Text 25"/>
          <p:cNvSpPr txBox="1"/>
          <p:nvPr/>
        </p:nvSpPr>
        <p:spPr>
          <a:xfrm>
            <a:off x="9395231" y="5257800"/>
            <a:ext cx="1927784" cy="320040"/>
          </a:xfrm>
          <a:prstGeom prst="rect">
            <a:avLst/>
          </a:prstGeom>
          <a:noFill/>
          <a:ln/>
        </p:spPr>
        <p:txBody>
          <a:bodyPr wrap="square" lIns="0" tIns="0" rIns="0" bIns="0" rtlCol="0" anchor="ctr"/>
          <a:lstStyle/>
          <a:p>
            <a:pPr indent="0" marL="0">
              <a:buNone/>
            </a:pPr>
            <a:r>
              <a:rPr lang="en-US" sz="1400" dirty="0">
                <a:solidFill>
                  <a:srgbClr val="0A5D7A"/>
                </a:solidFill>
              </a:rPr>
              <a:t>Learn more  ›</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7315200" cy="320040"/>
          </a:xfrm>
          <a:prstGeom prst="rect">
            <a:avLst/>
          </a:prstGeom>
          <a:noFill/>
          <a:ln/>
        </p:spPr>
        <p:txBody>
          <a:bodyPr wrap="square" lIns="0" tIns="0" rIns="0" bIns="0" rtlCol="0" anchor="b"/>
          <a:lstStyle/>
          <a:p>
            <a:pPr algn="l" indent="0" marL="0">
              <a:buNone/>
            </a:pPr>
            <a:r>
              <a:rPr lang="en-US" sz="1200" b="1" spc="300" kern="0" dirty="0">
                <a:solidFill>
                  <a:schemeClr val="accent5"/>
                </a:solidFill>
              </a:rPr>
              <a:t>THE HEADLINE</a:t>
            </a:r>
            <a:endParaRPr lang="en-US" sz="1200" dirty="0"/>
          </a:p>
        </p:txBody>
      </p:sp>
      <p:sp>
        <p:nvSpPr>
          <p:cNvPr id="3" name="Text 1"/>
          <p:cNvSpPr/>
          <p:nvPr>
            <p:ph idx="102" type="body" hasCustomPrompt="1"/>
          </p:nvPr>
        </p:nvSpPr>
        <p:spPr>
          <a:xfrm>
            <a:off x="548640" y="1188720"/>
            <a:ext cx="6583680" cy="2377440"/>
          </a:xfrm>
          <a:prstGeom prst="rect">
            <a:avLst/>
          </a:prstGeom>
          <a:noFill/>
          <a:ln/>
        </p:spPr>
        <p:txBody>
          <a:bodyPr wrap="square" lIns="0" tIns="0" rIns="0" bIns="0" rtlCol="0" anchor="b"/>
          <a:lstStyle/>
          <a:p>
            <a:pPr algn="l" indent="0" marL="0">
              <a:buNone/>
            </a:pPr>
            <a:r>
              <a:rPr lang="en-US" sz="13200" b="1" dirty="0">
                <a:solidFill>
                  <a:schemeClr val="accent1"/>
                </a:solidFill>
              </a:rPr>
              <a:t>47%</a:t>
            </a:r>
            <a:endParaRPr lang="en-US" sz="13200" dirty="0"/>
          </a:p>
        </p:txBody>
      </p:sp>
      <p:sp>
        <p:nvSpPr>
          <p:cNvPr id="4" name="Text 1"/>
          <p:cNvSpPr/>
          <p:nvPr>
            <p:ph idx="103" type="body" hasCustomPrompt="1"/>
          </p:nvPr>
        </p:nvSpPr>
        <p:spPr>
          <a:xfrm>
            <a:off x="548640" y="3703320"/>
            <a:ext cx="6035040" cy="1005840"/>
          </a:xfrm>
          <a:prstGeom prst="rect">
            <a:avLst/>
          </a:prstGeom>
          <a:noFill/>
          <a:ln/>
        </p:spPr>
        <p:txBody>
          <a:bodyPr wrap="square" lIns="0" tIns="0" rIns="0" bIns="0" rtlCol="0" anchor="t"/>
          <a:lstStyle/>
          <a:p>
            <a:pPr algn="l" indent="0" marL="0">
              <a:buNone/>
            </a:pPr>
            <a:r>
              <a:rPr lang="en-US" sz="2600" b="1" dirty="0">
                <a:solidFill>
                  <a:schemeClr val="tx1"/>
                </a:solidFill>
              </a:rPr>
              <a:t>faster releases after platform modernisation</a:t>
            </a:r>
            <a:endParaRPr lang="en-US" sz="2600" dirty="0"/>
          </a:p>
        </p:txBody>
      </p:sp>
      <p:sp>
        <p:nvSpPr>
          <p:cNvPr id="5" name="Text 1"/>
          <p:cNvSpPr/>
          <p:nvPr>
            <p:ph idx="104" type="body" hasCustomPrompt="1"/>
          </p:nvPr>
        </p:nvSpPr>
        <p:spPr>
          <a:xfrm>
            <a:off x="548640" y="4754880"/>
            <a:ext cx="6035040" cy="1188720"/>
          </a:xfrm>
          <a:prstGeom prst="rect">
            <a:avLst/>
          </a:prstGeom>
          <a:noFill/>
          <a:ln/>
        </p:spPr>
        <p:txBody>
          <a:bodyPr wrap="square" lIns="0" tIns="0" rIns="0" bIns="0" rtlCol="0" anchor="t"/>
          <a:lstStyle/>
          <a:p>
            <a:pPr algn="l" indent="0" marL="0">
              <a:buNone/>
            </a:pPr>
            <a:r>
              <a:rPr lang="en-US" sz="1600" dirty="0">
                <a:solidFill>
                  <a:srgbClr val="3E4449"/>
                </a:solidFill>
              </a:rPr>
              <a:t>Median lead time for changes, measured over the two quarters before and after migration.</a:t>
            </a:r>
            <a:endParaRPr lang="en-US" sz="1600" dirty="0"/>
          </a:p>
        </p:txBody>
      </p:sp>
      <p:sp>
        <p:nvSpPr>
          <p:cNvPr id="6" name="stat-panel"/>
          <p:cNvSpPr/>
          <p:nvPr/>
        </p:nvSpPr>
        <p:spPr>
          <a:xfrm>
            <a:off x="7635240" y="1188720"/>
            <a:ext cx="4007815" cy="4754880"/>
          </a:xfrm>
          <a:prstGeom prst="roundRect">
            <a:avLst>
              <a:gd name="adj" fmla="val 5704"/>
            </a:avLst>
          </a:prstGeom>
          <a:solidFill>
            <a:schemeClr val="tx2"/>
          </a:solidFill>
          <a:ln/>
        </p:spPr>
      </p:sp>
      <p:sp>
        <p:nvSpPr>
          <p:cNvPr id="7" name="Text 5"/>
          <p:cNvSpPr txBox="1"/>
          <p:nvPr/>
        </p:nvSpPr>
        <p:spPr>
          <a:xfrm>
            <a:off x="8046720" y="1600200"/>
            <a:ext cx="3291840" cy="685800"/>
          </a:xfrm>
          <a:prstGeom prst="rect">
            <a:avLst/>
          </a:prstGeom>
          <a:noFill/>
          <a:ln/>
        </p:spPr>
        <p:txBody>
          <a:bodyPr wrap="square" lIns="0" tIns="0" rIns="0" bIns="0" rtlCol="0" anchor="ctr"/>
          <a:lstStyle/>
          <a:p>
            <a:pPr indent="0" marL="0">
              <a:buNone/>
            </a:pPr>
            <a:r>
              <a:rPr lang="en-US" sz="3600" b="1" dirty="0">
                <a:solidFill>
                  <a:schemeClr val="bg1"/>
                </a:solidFill>
              </a:rPr>
              <a:t>3.2×</a:t>
            </a:r>
            <a:endParaRPr lang="en-US" sz="3600" dirty="0"/>
          </a:p>
        </p:txBody>
      </p:sp>
      <p:sp>
        <p:nvSpPr>
          <p:cNvPr id="8" name="Text 6"/>
          <p:cNvSpPr txBox="1"/>
          <p:nvPr/>
        </p:nvSpPr>
        <p:spPr>
          <a:xfrm>
            <a:off x="8046720" y="2286000"/>
            <a:ext cx="3291840" cy="411480"/>
          </a:xfrm>
          <a:prstGeom prst="rect">
            <a:avLst/>
          </a:prstGeom>
          <a:noFill/>
          <a:ln/>
        </p:spPr>
        <p:txBody>
          <a:bodyPr wrap="square" lIns="0" tIns="0" rIns="0" bIns="0" rtlCol="0" anchor="ctr"/>
          <a:lstStyle/>
          <a:p>
            <a:pPr indent="0" marL="0">
              <a:buNone/>
            </a:pPr>
            <a:r>
              <a:rPr lang="en-US" sz="1500" dirty="0">
                <a:solidFill>
                  <a:srgbClr val="A9C0C5"/>
                </a:solidFill>
              </a:rPr>
              <a:t>deployment frequency</a:t>
            </a:r>
            <a:endParaRPr lang="en-US" sz="1500" dirty="0"/>
          </a:p>
        </p:txBody>
      </p:sp>
      <p:sp>
        <p:nvSpPr>
          <p:cNvPr id="9" name="Text 7"/>
          <p:cNvSpPr txBox="1"/>
          <p:nvPr/>
        </p:nvSpPr>
        <p:spPr>
          <a:xfrm>
            <a:off x="8046720" y="3063240"/>
            <a:ext cx="3291840" cy="685800"/>
          </a:xfrm>
          <a:prstGeom prst="rect">
            <a:avLst/>
          </a:prstGeom>
          <a:noFill/>
          <a:ln/>
        </p:spPr>
        <p:txBody>
          <a:bodyPr wrap="square" lIns="0" tIns="0" rIns="0" bIns="0" rtlCol="0" anchor="ctr"/>
          <a:lstStyle/>
          <a:p>
            <a:pPr indent="0" marL="0">
              <a:buNone/>
            </a:pPr>
            <a:r>
              <a:rPr lang="en-US" sz="3600" b="1" dirty="0">
                <a:solidFill>
                  <a:schemeClr val="bg1"/>
                </a:solidFill>
              </a:rPr>
              <a:t>−38%</a:t>
            </a:r>
            <a:endParaRPr lang="en-US" sz="3600" dirty="0"/>
          </a:p>
        </p:txBody>
      </p:sp>
      <p:sp>
        <p:nvSpPr>
          <p:cNvPr id="10" name="Text 8"/>
          <p:cNvSpPr txBox="1"/>
          <p:nvPr/>
        </p:nvSpPr>
        <p:spPr>
          <a:xfrm>
            <a:off x="8046720" y="3749040"/>
            <a:ext cx="3291840" cy="411480"/>
          </a:xfrm>
          <a:prstGeom prst="rect">
            <a:avLst/>
          </a:prstGeom>
          <a:noFill/>
          <a:ln/>
        </p:spPr>
        <p:txBody>
          <a:bodyPr wrap="square" lIns="0" tIns="0" rIns="0" bIns="0" rtlCol="0" anchor="ctr"/>
          <a:lstStyle/>
          <a:p>
            <a:pPr indent="0" marL="0">
              <a:buNone/>
            </a:pPr>
            <a:r>
              <a:rPr lang="en-US" sz="1500" dirty="0">
                <a:solidFill>
                  <a:srgbClr val="A9C0C5"/>
                </a:solidFill>
              </a:rPr>
              <a:t>change failure rate</a:t>
            </a:r>
            <a:endParaRPr lang="en-US" sz="1500" dirty="0"/>
          </a:p>
        </p:txBody>
      </p:sp>
      <p:sp>
        <p:nvSpPr>
          <p:cNvPr id="11" name="Text 9"/>
          <p:cNvSpPr txBox="1"/>
          <p:nvPr/>
        </p:nvSpPr>
        <p:spPr>
          <a:xfrm>
            <a:off x="8046720" y="4526280"/>
            <a:ext cx="3291840" cy="685800"/>
          </a:xfrm>
          <a:prstGeom prst="rect">
            <a:avLst/>
          </a:prstGeom>
          <a:noFill/>
          <a:ln/>
        </p:spPr>
        <p:txBody>
          <a:bodyPr wrap="square" lIns="0" tIns="0" rIns="0" bIns="0" rtlCol="0" anchor="ctr"/>
          <a:lstStyle/>
          <a:p>
            <a:pPr indent="0" marL="0">
              <a:buNone/>
            </a:pPr>
            <a:r>
              <a:rPr lang="en-US" sz="3600" b="1" dirty="0">
                <a:solidFill>
                  <a:schemeClr val="bg1"/>
                </a:solidFill>
              </a:rPr>
              <a:t>12 wks</a:t>
            </a:r>
            <a:endParaRPr lang="en-US" sz="3600" dirty="0"/>
          </a:p>
        </p:txBody>
      </p:sp>
      <p:sp>
        <p:nvSpPr>
          <p:cNvPr id="12" name="Text 10"/>
          <p:cNvSpPr txBox="1"/>
          <p:nvPr/>
        </p:nvSpPr>
        <p:spPr>
          <a:xfrm>
            <a:off x="8046720" y="5212080"/>
            <a:ext cx="3291840" cy="411480"/>
          </a:xfrm>
          <a:prstGeom prst="rect">
            <a:avLst/>
          </a:prstGeom>
          <a:noFill/>
          <a:ln/>
        </p:spPr>
        <p:txBody>
          <a:bodyPr wrap="square" lIns="0" tIns="0" rIns="0" bIns="0" rtlCol="0" anchor="ctr"/>
          <a:lstStyle/>
          <a:p>
            <a:pPr indent="0" marL="0">
              <a:buNone/>
            </a:pPr>
            <a:r>
              <a:rPr lang="en-US" sz="1500" dirty="0">
                <a:solidFill>
                  <a:srgbClr val="A9C0C5"/>
                </a:solidFill>
              </a:rPr>
              <a:t>to first production release</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7315200" cy="320040"/>
          </a:xfrm>
          <a:prstGeom prst="rect">
            <a:avLst/>
          </a:prstGeom>
          <a:noFill/>
          <a:ln/>
        </p:spPr>
        <p:txBody>
          <a:bodyPr wrap="square" lIns="0" tIns="0" rIns="0" bIns="0" rtlCol="0" anchor="b"/>
          <a:lstStyle/>
          <a:p>
            <a:pPr algn="l" indent="0" marL="0">
              <a:buNone/>
            </a:pPr>
            <a:r>
              <a:rPr lang="en-US" sz="1200" b="1" spc="300" kern="0" dirty="0">
                <a:solidFill>
                  <a:schemeClr val="accent5"/>
                </a:solidFill>
              </a:rPr>
              <a:t>RESULTS</a:t>
            </a:r>
            <a:endParaRPr lang="en-US" sz="1200" dirty="0"/>
          </a:p>
        </p:txBody>
      </p:sp>
      <p:sp>
        <p:nvSpPr>
          <p:cNvPr id="3" name="Text 1"/>
          <p:cNvSpPr/>
          <p:nvPr>
            <p:ph idx="102" type="title" hasCustomPrompt="1"/>
          </p:nvPr>
        </p:nvSpPr>
        <p:spPr>
          <a:xfrm>
            <a:off x="548640" y="822960"/>
            <a:ext cx="11094415" cy="868680"/>
          </a:xfrm>
          <a:prstGeom prst="rect">
            <a:avLst/>
          </a:prstGeom>
          <a:noFill/>
          <a:ln/>
        </p:spPr>
        <p:txBody>
          <a:bodyPr wrap="square" lIns="0" tIns="0" rIns="0" bIns="0" rtlCol="0" anchor="t"/>
          <a:lstStyle/>
          <a:p>
            <a:pPr algn="l" indent="0" marL="0">
              <a:buNone/>
            </a:pPr>
            <a:r>
              <a:rPr lang="en-US" sz="3600" b="1" dirty="0">
                <a:solidFill>
                  <a:schemeClr val="tx1"/>
                </a:solidFill>
              </a:rPr>
              <a:t>Lead time fell every quarter after </a:t>
            </a:r>
            <a:r>
              <a:rPr lang="en-US" sz="3600" b="0" i="1" dirty="0">
                <a:solidFill>
                  <a:schemeClr val="accent1"/>
                </a:solidFill>
                <a:latin typeface="DM Serif Display" pitchFamily="34" charset="0"/>
                <a:ea typeface="DM Serif Display" pitchFamily="34" charset="-122"/>
                <a:cs typeface="DM Serif Display" pitchFamily="34" charset="-120"/>
              </a:rPr>
              <a:t>migration</a:t>
            </a:r>
            <a:endParaRPr lang="en-US" sz="3600" dirty="0"/>
          </a:p>
        </p:txBody>
      </p:sp>
      <p:graphicFrame>
        <p:nvGraphicFramePr>
          <p:cNvPr id="4" name="lead-time-chart" descr=""/>
          <p:cNvGraphicFramePr/>
          <p:nvPr/>
        </p:nvGraphicFramePr>
        <p:xfrm>
          <a:off x="548640" y="2011680"/>
          <a:ext cx="7223760" cy="40233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229600" y="2377440"/>
            <a:ext cx="3413455" cy="237744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Down 47% in six quarters</a:t>
            </a:r>
            <a:endParaRPr lang="en-US" sz="2000" dirty="0"/>
          </a:p>
          <a:p>
            <a:pPr indent="0" marL="0">
              <a:spcAft>
                <a:spcPts val="800"/>
              </a:spcAft>
              <a:buNone/>
            </a:pPr>
            <a:r>
              <a:rPr lang="en-US" sz="1600" dirty="0">
                <a:solidFill>
                  <a:srgbClr val="3E4449"/>
                </a:solidFill>
              </a:rPr>
              <a:t>Most of the gain came after the deployment pipeline moved to the new platform in Q3.</a:t>
            </a:r>
            <a:endParaRPr lang="en-US" sz="2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ption-panel-1"/>
          <p:cNvSpPr/>
          <p:nvPr/>
        </p:nvSpPr>
        <p:spPr>
          <a:xfrm>
            <a:off x="548640" y="1920240"/>
            <a:ext cx="5349240" cy="4160520"/>
          </a:xfrm>
          <a:prstGeom prst="roundRect">
            <a:avLst>
              <a:gd name="adj" fmla="val 4396"/>
            </a:avLst>
          </a:prstGeom>
          <a:solidFill>
            <a:schemeClr val="bg2"/>
          </a:solidFill>
          <a:ln/>
        </p:spPr>
      </p:sp>
      <p:sp>
        <p:nvSpPr>
          <p:cNvPr id="3" name="option-panel-2"/>
          <p:cNvSpPr/>
          <p:nvPr/>
        </p:nvSpPr>
        <p:spPr>
          <a:xfrm>
            <a:off x="6324448" y="1920240"/>
            <a:ext cx="5349240" cy="4160520"/>
          </a:xfrm>
          <a:prstGeom prst="roundRect">
            <a:avLst>
              <a:gd name="adj" fmla="val 4396"/>
            </a:avLst>
          </a:prstGeom>
          <a:solidFill>
            <a:schemeClr val="bg2"/>
          </a:solidFill>
          <a:ln/>
        </p:spPr>
      </p:sp>
      <p:sp>
        <p:nvSpPr>
          <p:cNvPr id="4" name="Text 1"/>
          <p:cNvSpPr/>
          <p:nvPr>
            <p:ph idx="101" type="body" hasCustomPrompt="1"/>
          </p:nvPr>
        </p:nvSpPr>
        <p:spPr>
          <a:xfrm>
            <a:off x="548640" y="457200"/>
            <a:ext cx="7315200" cy="320040"/>
          </a:xfrm>
          <a:prstGeom prst="rect">
            <a:avLst/>
          </a:prstGeom>
          <a:noFill/>
          <a:ln/>
        </p:spPr>
        <p:txBody>
          <a:bodyPr wrap="square" lIns="0" tIns="0" rIns="0" bIns="0" rtlCol="0" anchor="b"/>
          <a:lstStyle/>
          <a:p>
            <a:pPr algn="l" indent="0" marL="0">
              <a:buNone/>
            </a:pPr>
            <a:r>
              <a:rPr lang="en-US" sz="1200" b="1" spc="300" kern="0" dirty="0">
                <a:solidFill>
                  <a:schemeClr val="accent5"/>
                </a:solidFill>
              </a:rPr>
              <a:t>OPTIONS</a:t>
            </a:r>
            <a:endParaRPr lang="en-US" sz="1200" dirty="0"/>
          </a:p>
        </p:txBody>
      </p:sp>
      <p:sp>
        <p:nvSpPr>
          <p:cNvPr id="5" name="Text 1"/>
          <p:cNvSpPr/>
          <p:nvPr>
            <p:ph idx="102" type="title" hasCustomPrompt="1"/>
          </p:nvPr>
        </p:nvSpPr>
        <p:spPr>
          <a:xfrm>
            <a:off x="548640" y="822960"/>
            <a:ext cx="11094415" cy="868680"/>
          </a:xfrm>
          <a:prstGeom prst="rect">
            <a:avLst/>
          </a:prstGeom>
          <a:noFill/>
          <a:ln/>
        </p:spPr>
        <p:txBody>
          <a:bodyPr wrap="square" lIns="0" tIns="0" rIns="0" bIns="0" rtlCol="0" anchor="t"/>
          <a:lstStyle/>
          <a:p>
            <a:pPr algn="l" indent="0" marL="0">
              <a:buNone/>
            </a:pPr>
            <a:r>
              <a:rPr lang="en-US" sz="3600" b="1" dirty="0">
                <a:solidFill>
                  <a:schemeClr val="tx1"/>
                </a:solidFill>
              </a:rPr>
              <a:t>Two ways forward</a:t>
            </a:r>
            <a:endParaRPr lang="en-US" sz="3600" dirty="0"/>
          </a:p>
        </p:txBody>
      </p:sp>
      <p:sp>
        <p:nvSpPr>
          <p:cNvPr id="6" name="Text 1"/>
          <p:cNvSpPr/>
          <p:nvPr>
            <p:ph idx="103" type="body" hasCustomPrompt="1"/>
          </p:nvPr>
        </p:nvSpPr>
        <p:spPr>
          <a:xfrm>
            <a:off x="914400" y="2286000"/>
            <a:ext cx="4617720" cy="3566160"/>
          </a:xfrm>
          <a:prstGeom prst="rect">
            <a:avLst/>
          </a:prstGeom>
          <a:noFill/>
          <a:ln/>
        </p:spPr>
        <p:txBody>
          <a:bodyPr wrap="square" lIns="0" tIns="0" rIns="0" bIns="0" rtlCol="0" anchor="t"/>
          <a:lstStyle/>
          <a:p>
            <a:pPr algn="l" indent="0" marL="0">
              <a:spcAft>
                <a:spcPts val="1000"/>
              </a:spcAft>
              <a:buNone/>
            </a:pPr>
            <a:r>
              <a:rPr lang="en-US" sz="2000" b="1" dirty="0">
                <a:solidFill>
                  <a:schemeClr val="tx1"/>
                </a:solidFill>
              </a:rPr>
              <a:t>Modernise in place</a:t>
            </a:r>
            <a:endParaRPr lang="en-US" sz="1800" dirty="0"/>
          </a:p>
          <a:p>
            <a:pPr algn="l" marL="342900" indent="-342900">
              <a:spcAft>
                <a:spcPts val="1000"/>
              </a:spcAft>
              <a:buSzPct val="100000"/>
              <a:buChar char="•"/>
            </a:pPr>
            <a:r>
              <a:rPr lang="en-US" sz="1800" dirty="0">
                <a:solidFill>
                  <a:srgbClr val="3E4449"/>
                </a:solidFill>
              </a:rPr>
              <a:t>Lower upfront cost</a:t>
            </a:r>
            <a:endParaRPr lang="en-US" sz="1800" dirty="0"/>
          </a:p>
          <a:p>
            <a:pPr algn="l" marL="342900" indent="-342900">
              <a:spcAft>
                <a:spcPts val="1000"/>
              </a:spcAft>
              <a:buSzPct val="100000"/>
              <a:buChar char="•"/>
            </a:pPr>
            <a:r>
              <a:rPr lang="en-US" sz="1800" dirty="0">
                <a:solidFill>
                  <a:srgbClr val="3E4449"/>
                </a:solidFill>
              </a:rPr>
              <a:t>Keeps current vendor contracts</a:t>
            </a:r>
            <a:endParaRPr lang="en-US" sz="1800" dirty="0"/>
          </a:p>
          <a:p>
            <a:pPr algn="l" marL="342900" indent="-342900">
              <a:spcAft>
                <a:spcPts val="1000"/>
              </a:spcAft>
              <a:buSzPct val="100000"/>
              <a:buChar char="•"/>
            </a:pPr>
            <a:r>
              <a:rPr lang="en-US" sz="1800" dirty="0">
                <a:solidFill>
                  <a:srgbClr val="3E4449"/>
                </a:solidFill>
              </a:rPr>
              <a:t>Slower path to automation</a:t>
            </a:r>
            <a:endParaRPr lang="en-US" sz="1800" dirty="0"/>
          </a:p>
        </p:txBody>
      </p:sp>
      <p:sp>
        <p:nvSpPr>
          <p:cNvPr id="7" name="Text 1"/>
          <p:cNvSpPr/>
          <p:nvPr>
            <p:ph idx="104" type="body" hasCustomPrompt="1"/>
          </p:nvPr>
        </p:nvSpPr>
        <p:spPr>
          <a:xfrm>
            <a:off x="6690208" y="2286000"/>
            <a:ext cx="4617720" cy="3566160"/>
          </a:xfrm>
          <a:prstGeom prst="rect">
            <a:avLst/>
          </a:prstGeom>
          <a:noFill/>
          <a:ln/>
        </p:spPr>
        <p:txBody>
          <a:bodyPr wrap="square" lIns="0" tIns="0" rIns="0" bIns="0" rtlCol="0" anchor="t"/>
          <a:lstStyle/>
          <a:p>
            <a:pPr algn="l" indent="0" marL="0">
              <a:spcAft>
                <a:spcPts val="1000"/>
              </a:spcAft>
              <a:buNone/>
            </a:pPr>
            <a:r>
              <a:rPr lang="en-US" sz="2000" b="1" dirty="0">
                <a:solidFill>
                  <a:schemeClr val="tx1"/>
                </a:solidFill>
              </a:rPr>
              <a:t>Re-platform</a:t>
            </a:r>
            <a:endParaRPr lang="en-US" sz="1800" dirty="0"/>
          </a:p>
          <a:p>
            <a:pPr algn="l" marL="342900" indent="-342900">
              <a:spcAft>
                <a:spcPts val="1000"/>
              </a:spcAft>
              <a:buSzPct val="100000"/>
              <a:buChar char="•"/>
            </a:pPr>
            <a:r>
              <a:rPr lang="en-US" sz="1800" dirty="0">
                <a:solidFill>
                  <a:srgbClr val="3E4449"/>
                </a:solidFill>
              </a:rPr>
              <a:t>Faster releases within two quarters</a:t>
            </a:r>
            <a:endParaRPr lang="en-US" sz="1800" dirty="0"/>
          </a:p>
          <a:p>
            <a:pPr algn="l" marL="342900" indent="-342900">
              <a:spcAft>
                <a:spcPts val="1000"/>
              </a:spcAft>
              <a:buSzPct val="100000"/>
              <a:buChar char="•"/>
            </a:pPr>
            <a:r>
              <a:rPr lang="en-US" sz="1800" dirty="0">
                <a:solidFill>
                  <a:srgbClr val="3E4449"/>
                </a:solidFill>
              </a:rPr>
              <a:t>One-off migration effort</a:t>
            </a:r>
            <a:endParaRPr lang="en-US" sz="1800" dirty="0"/>
          </a:p>
          <a:p>
            <a:pPr algn="l" marL="342900" indent="-342900">
              <a:spcAft>
                <a:spcPts val="1000"/>
              </a:spcAft>
              <a:buSzPct val="100000"/>
              <a:buChar char="•"/>
            </a:pPr>
            <a:r>
              <a:rPr lang="en-US" sz="1800" dirty="0">
                <a:solidFill>
                  <a:srgbClr val="3E4449"/>
                </a:solidFill>
              </a:rPr>
              <a:t>Opens the door to AI workflows</a:t>
            </a:r>
            <a:endParaRPr lang="en-US" sz="18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548640" y="2011680"/>
            <a:ext cx="9692640" cy="2651760"/>
          </a:xfrm>
          <a:prstGeom prst="rect">
            <a:avLst/>
          </a:prstGeom>
          <a:noFill/>
          <a:ln/>
        </p:spPr>
        <p:txBody>
          <a:bodyPr wrap="square" lIns="0" tIns="0" rIns="0" bIns="0" rtlCol="0" anchor="t"/>
          <a:lstStyle/>
          <a:p>
            <a:pPr algn="l" indent="0" marL="0">
              <a:lnSpc>
                <a:spcPct val="110000"/>
              </a:lnSpc>
              <a:buNone/>
            </a:pPr>
            <a:r>
              <a:rPr lang="en-US" sz="3000" i="1" dirty="0">
                <a:solidFill>
                  <a:schemeClr val="bg1"/>
                </a:solidFill>
              </a:rPr>
              <a:t>They identified the key skills required for success and let us be part of the selection process.</a:t>
            </a:r>
            <a:endParaRPr lang="en-US" sz="3000" dirty="0"/>
          </a:p>
        </p:txBody>
      </p:sp>
      <p:sp>
        <p:nvSpPr>
          <p:cNvPr id="3" name="Text 2"/>
          <p:cNvSpPr/>
          <p:nvPr>
            <p:ph idx="103" type="body" hasCustomPrompt="1"/>
          </p:nvPr>
        </p:nvSpPr>
        <p:spPr>
          <a:xfrm>
            <a:off x="548640" y="4892040"/>
            <a:ext cx="7315200" cy="365760"/>
          </a:xfrm>
          <a:prstGeom prst="rect">
            <a:avLst/>
          </a:prstGeom>
          <a:noFill/>
          <a:ln/>
        </p:spPr>
        <p:txBody>
          <a:bodyPr wrap="square" lIns="0" tIns="0" rIns="0" bIns="0" rtlCol="0"/>
          <a:lstStyle/>
          <a:p>
            <a:pPr algn="l" indent="0" marL="0">
              <a:buNone/>
            </a:pPr>
            <a:r>
              <a:rPr lang="en-US" sz="1600" b="1" dirty="0">
                <a:solidFill>
                  <a:schemeClr val="bg1"/>
                </a:solidFill>
              </a:rPr>
              <a:t>Client name</a:t>
            </a:r>
            <a:endParaRPr lang="en-US" sz="1600" dirty="0"/>
          </a:p>
        </p:txBody>
      </p:sp>
      <p:sp>
        <p:nvSpPr>
          <p:cNvPr id="4" name="Text 2"/>
          <p:cNvSpPr/>
          <p:nvPr>
            <p:ph idx="104" type="body" hasCustomPrompt="1"/>
          </p:nvPr>
        </p:nvSpPr>
        <p:spPr>
          <a:xfrm>
            <a:off x="548640" y="5257800"/>
            <a:ext cx="7315200" cy="365760"/>
          </a:xfrm>
          <a:prstGeom prst="rect">
            <a:avLst/>
          </a:prstGeom>
          <a:noFill/>
          <a:ln/>
        </p:spPr>
        <p:txBody>
          <a:bodyPr wrap="square" lIns="0" tIns="0" rIns="0" bIns="0" rtlCol="0"/>
          <a:lstStyle/>
          <a:p>
            <a:pPr algn="l" indent="0" marL="0">
              <a:buNone/>
            </a:pPr>
            <a:r>
              <a:rPr lang="en-US" sz="1400" dirty="0">
                <a:solidFill>
                  <a:srgbClr val="A9C0C5"/>
                </a:solidFill>
              </a:rPr>
              <a:t>Role, Company</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C0C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2011680"/>
            <a:ext cx="8229600" cy="1645920"/>
          </a:xfrm>
          <a:prstGeom prst="rect">
            <a:avLst/>
          </a:prstGeom>
          <a:noFill/>
          <a:ln/>
        </p:spPr>
        <p:txBody>
          <a:bodyPr wrap="square" lIns="0" tIns="0" rIns="0" bIns="0" rtlCol="0" anchor="b"/>
          <a:lstStyle/>
          <a:p>
            <a:pPr algn="l" indent="0" marL="0">
              <a:buNone/>
            </a:pPr>
            <a:r>
              <a:rPr lang="en-US" sz="6000" b="1" dirty="0">
                <a:solidFill>
                  <a:schemeClr val="bg1"/>
                </a:solidFill>
              </a:rPr>
              <a:t>Let's </a:t>
            </a:r>
            <a:r>
              <a:rPr lang="en-US" sz="6000" b="0" i="1" dirty="0">
                <a:solidFill>
                  <a:schemeClr val="bg1"/>
                </a:solidFill>
                <a:latin typeface="DM Serif Display" pitchFamily="34" charset="0"/>
                <a:ea typeface="DM Serif Display" pitchFamily="34" charset="-122"/>
                <a:cs typeface="DM Serif Display" pitchFamily="34" charset="-120"/>
              </a:rPr>
              <a:t>talk</a:t>
            </a:r>
            <a:endParaRPr lang="en-US" sz="6000" dirty="0"/>
          </a:p>
        </p:txBody>
      </p:sp>
      <p:sp>
        <p:nvSpPr>
          <p:cNvPr id="3" name="Text 1"/>
          <p:cNvSpPr/>
          <p:nvPr>
            <p:ph idx="102" type="body" hasCustomPrompt="1"/>
          </p:nvPr>
        </p:nvSpPr>
        <p:spPr>
          <a:xfrm>
            <a:off x="548640" y="3886200"/>
            <a:ext cx="7315200" cy="1280160"/>
          </a:xfrm>
          <a:prstGeom prst="rect">
            <a:avLst/>
          </a:prstGeom>
          <a:noFill/>
          <a:ln/>
        </p:spPr>
        <p:txBody>
          <a:bodyPr wrap="square" lIns="0" tIns="0" rIns="0" bIns="0" rtlCol="0" anchor="t"/>
          <a:lstStyle/>
          <a:p>
            <a:pPr algn="l" indent="0" marL="0">
              <a:spcAft>
                <a:spcPts val="600"/>
              </a:spcAft>
              <a:buNone/>
            </a:pPr>
            <a:r>
              <a:rPr lang="en-US" sz="1800" b="1" dirty="0">
                <a:solidFill>
                  <a:schemeClr val="bg1"/>
                </a:solidFill>
              </a:rPr>
              <a:t>Your name</a:t>
            </a:r>
            <a:endParaRPr lang="en-US" sz="1800" dirty="0"/>
          </a:p>
          <a:p>
            <a:pPr algn="l" indent="0" marL="0">
              <a:spcAft>
                <a:spcPts val="600"/>
              </a:spcAft>
              <a:buNone/>
            </a:pPr>
            <a:r>
              <a:rPr lang="en-US" sz="1800" dirty="0">
                <a:solidFill>
                  <a:schemeClr val="bg1"/>
                </a:solidFill>
              </a:rPr>
              <a:t>name@insighture.com</a:t>
            </a:r>
            <a:endParaRPr lang="en-US" sz="1800" dirty="0"/>
          </a:p>
          <a:p>
            <a:pPr algn="l" indent="0" marL="0">
              <a:spcAft>
                <a:spcPts val="600"/>
              </a:spcAft>
              <a:buNone/>
            </a:pPr>
            <a:r>
              <a:rPr lang="en-US" sz="1800" dirty="0">
                <a:solidFill>
                  <a:schemeClr val="bg1"/>
                </a:solidFill>
              </a:rPr>
              <a:t>insighture.com</a:t>
            </a:r>
            <a:endParaRPr lang="en-US" sz="1800" dirty="0"/>
          </a:p>
        </p:txBody>
      </p:sp>
    </p:spTree>
  </p:cSld>
  <p:clrMapOvr>
    <a:masterClrMapping/>
  </p:clrMapOvr>
</p:sld>
</file>

<file path=ppt/theme/theme1.xml><?xml version="1.0" encoding="utf-8"?>
<a:theme xmlns:a="http://schemas.openxmlformats.org/drawingml/2006/main" name="Insighture">
  <a:themeElements>
    <a:clrScheme name="Insighture">
      <a:dk1>
        <a:srgbClr val="15181A"/>
      </a:dk1>
      <a:lt1>
        <a:srgbClr val="FCFCFD"/>
      </a:lt1>
      <a:dk2>
        <a:srgbClr val="08242B"/>
      </a:dk2>
      <a:lt2>
        <a:srgbClr val="EEF0F1"/>
      </a:lt2>
      <a:accent1>
        <a:srgbClr val="EE4065"/>
      </a:accent1>
      <a:accent2>
        <a:srgbClr val="0FA2BF"/>
      </a:accent2>
      <a:accent3>
        <a:srgbClr val="FF8102"/>
      </a:accent3>
      <a:accent4>
        <a:srgbClr val="FAB400"/>
      </a:accent4>
      <a:accent5>
        <a:srgbClr val="4F46E5"/>
      </a:accent5>
      <a:accent6>
        <a:srgbClr val="555C62"/>
      </a:accent6>
      <a:hlink>
        <a:srgbClr val="15181A"/>
      </a:hlink>
      <a:folHlink>
        <a:srgbClr val="555C62"/>
      </a:folHlink>
    </a:clrScheme>
    <a:fontScheme name="Insighture">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Insighture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Insighture presentation template</dc:title>
  <dc:subject>PptxGenJS Presentation</dc:subject>
  <dc:creator>Insighture</dc:creator>
  <cp:lastModifiedBy>Insighture</cp:lastModifiedBy>
  <cp:revision>1</cp:revision>
  <dcterms:created xsi:type="dcterms:W3CDTF">2026-10-13T06:01:08Z</dcterms:created>
  <dcterms:modified xsi:type="dcterms:W3CDTF">2026-10-13T06:01:08Z</dcterms:modified>
</cp:coreProperties>
</file>